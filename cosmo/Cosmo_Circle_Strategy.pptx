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e64e60b-1b6c-48dc-cac8-30c04b344ddd}">
          <p14:sldIdLst>
            <p14:sldId id="256"/>
            <p14:sldId id="257"/>
          </p14:sldIdLst>
        </p14:section>
        <p14:section name="The situation" id="{e8fa2e1f-f776-ef91-81b6-27456cf2ac10}">
          <p14:sldIdLst>
            <p14:sldId id="258"/>
            <p14:sldId id="259"/>
            <p14:sldId id="260"/>
            <p14:sldId id="261"/>
            <p14:sldId id="262"/>
          </p14:sldIdLst>
        </p14:section>
        <p14:section name="The decision" id="{547c671b-0c16-673b-f865-9287ccfecd08}">
          <p14:sldIdLst>
            <p14:sldId id="263"/>
          </p14:sldIdLst>
        </p14:section>
        <p14:section name="The plan" id="{f70b389f-c9bd-bbc9-3f4d-7203234deaf9}">
          <p14:sldIdLst>
            <p14:sldId id="264"/>
            <p14:sldId id="265"/>
            <p14:sldId id="266"/>
            <p14:sldId id="267"/>
          </p14:sldIdLst>
        </p14:section>
        <p14:section name="Measurement and money" id="{b685bff9-5b16-0bbb-1d51-57b25994a931}">
          <p14:sldIdLst>
            <p14:sldId id="268"/>
            <p14:sldId id="269"/>
            <p14:sldId id="270"/>
          </p14:sldIdLst>
        </p14:section>
        <p14:section name="Close" id="{16b7ede5-9d1c-ad06-a473-e41925deb978}">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E176B"/>
                </a:solidFill>
                <a:latin typeface="+mn-lt"/>
              </a:defRPr>
            </a:pPr>
            <a:r>
              <a:rPr sz="1400" b="0" i="0" u="none" strike="noStrike">
                <a:solidFill>
                  <a:srgbClr val="4E176B"/>
                </a:solidFill>
                <a:latin typeface="+mn-lt"/>
              </a:rPr>
              <a:t>Extra orders to recover ₦150m (45% margin)</a:t>
            </a:r>
          </a:p>
        </c:rich>
      </c:tx>
      <c:layout/>
      <c:overlay val="0"/>
    </c:title>
    <c:autoTitleDeleted val="0"/>
    <c:plotArea>
      <c:layout/>
      <c:barChart>
        <c:barDir val="col"/>
        <c:grouping val="clustered"/>
        <c:varyColors val="0"/>
        <c:ser>
          <c:idx val="0"/>
          <c:order val="0"/>
          <c:tx>
            <c:strRef>
              <c:f>Sheet1!$B$1</c:f>
              <c:strCache>
                <c:ptCount val="1"/>
                <c:pt idx="0">
                  <c:v>Extra orders to break even</c:v>
                </c:pt>
              </c:strCache>
            </c:strRef>
          </c:tx>
          <c:spPr>
            <a:solidFill>
              <a:srgbClr val="7B2CF0"/>
            </a:solidFill>
            <a:effectLst/>
          </c:spPr>
          <c:invertIfNegative val="0"/>
          <c:dLbls>
            <c:numFmt formatCode="#,##0" sourceLinked="0"/>
            <c:txPr>
              <a:bodyPr/>
              <a:lstStyle/>
              <a:p>
                <a:pPr>
                  <a:defRPr b="1" i="0" strike="noStrike" sz="1400" u="none">
                    <a:solidFill>
                      <a:srgbClr val="1A1423"/>
                    </a:solidFill>
                    <a:latin typeface="+mn-lt"/>
                  </a:defRPr>
                </a:pPr>
              </a:p>
            </c:txPr>
            <c:showLegendKey val="0"/>
            <c:showVal val="1"/>
            <c:showCatName val="0"/>
            <c:showSerName val="0"/>
            <c:showPercent val="0"/>
            <c:showBubbleSize val="0"/>
            <c:showLeaderLines val="0"/>
          </c:dLbls>
          <c:cat>
            <c:multiLvlStrRef>
              <c:f>Sheet1!$A$2:$A$4</c:f>
              <c:multiLvlStrCache>
                <c:ptCount val="3"/>
                <c:lvl>
                  <c:pt idx="0">
                    <c:v>₦10,000 order</c:v>
                  </c:pt>
                  <c:pt idx="1">
                    <c:v>₦15,000 order</c:v>
                  </c:pt>
                  <c:pt idx="2">
                    <c:v>₦25,000 order</c:v>
                  </c:pt>
                </c:lvl>
              </c:multiLvlStrCache>
            </c:multiLvlStrRef>
          </c:cat>
          <c:val>
            <c:numRef>
              <c:f>Sheet1!$B$2:$B$4</c:f>
              <c:numCache>
                <c:formatCode>General</c:formatCode>
                <c:ptCount val="3"/>
                <c:pt idx="0">
                  <c:v>33300</c:v>
                </c:pt>
                <c:pt idx="1">
                  <c:v>22200</c:v>
                </c:pt>
                <c:pt idx="2">
                  <c:v>13300</c:v>
                </c:pt>
              </c:numCache>
            </c:numRef>
          </c:val>
        </c:ser>
        <c:dLbls>
          <c:numFmt formatCode="#,##0" sourceLinked="0"/>
          <c:txPr>
            <a:bodyPr/>
            <a:lstStyle/>
            <a:p>
              <a:pPr>
                <a:defRPr b="1" i="0" strike="noStrike" sz="1400" u="none">
                  <a:solidFill>
                    <a:srgbClr val="1A142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A142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E176B"/>
                </a:solidFill>
                <a:latin typeface="+mn-lt"/>
              </a:defRPr>
            </a:pPr>
            <a:r>
              <a:rPr sz="1400" b="0" i="0" u="none" strike="noStrike">
                <a:solidFill>
                  <a:srgbClr val="4E176B"/>
                </a:solidFill>
                <a:latin typeface="+mn-lt"/>
              </a:rPr>
              <a:t>Spend, ₦ millions</a:t>
            </a:r>
          </a:p>
        </c:rich>
      </c:tx>
      <c:layout/>
      <c:overlay val="0"/>
    </c:title>
    <c:autoTitleDeleted val="0"/>
    <c:plotArea>
      <c:layout/>
      <c:barChart>
        <c:barDir val="bar"/>
        <c:grouping val="stacked"/>
        <c:varyColors val="0"/>
        <c:ser>
          <c:idx val="0"/>
          <c:order val="0"/>
          <c:tx>
            <c:strRef>
              <c:f>Sheet1!$B$1</c:f>
              <c:strCache>
                <c:ptCount val="1"/>
                <c:pt idx="0">
                  <c:v>Upfront fee</c:v>
                </c:pt>
              </c:strCache>
            </c:strRef>
          </c:tx>
          <c:spPr>
            <a:solidFill>
              <a:srgbClr val="F8C9A0"/>
            </a:solidFill>
            <a:effectLst/>
          </c:spPr>
          <c:invertIfNegative val="0"/>
          <c:dLbls>
            <c:numFmt formatCode="&quot;₦&quot;0&quot;m&quot;;;;" sourceLinked="0"/>
            <c:txPr>
              <a:bodyPr/>
              <a:lstStyle/>
              <a:p>
                <a:pPr>
                  <a:defRPr b="1" i="0" strike="noStrike" sz="1400" u="none">
                    <a:solidFill>
                      <a:srgbClr val="1A1423"/>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One influencer</c:v>
                  </c:pt>
                  <c:pt idx="1">
                    <c:v>Cosmo Circle</c:v>
                  </c:pt>
                </c:lvl>
              </c:multiLvlStrCache>
            </c:multiLvlStrRef>
          </c:cat>
          <c:val>
            <c:numRef>
              <c:f>Sheet1!$B$2:$B$3</c:f>
              <c:numCache>
                <c:formatCode>General</c:formatCode>
                <c:ptCount val="2"/>
                <c:pt idx="0">
                  <c:v>150</c:v>
                </c:pt>
                <c:pt idx="1">
                  <c:v>0</c:v>
                </c:pt>
              </c:numCache>
            </c:numRef>
          </c:val>
        </c:ser>
        <c:ser>
          <c:idx val="1"/>
          <c:order val="1"/>
          <c:tx>
            <c:strRef>
              <c:f>Sheet1!$C$1</c:f>
              <c:strCache>
                <c:ptCount val="1"/>
                <c:pt idx="0">
                  <c:v>Phase 1 · Nov–Jan</c:v>
                </c:pt>
              </c:strCache>
            </c:strRef>
          </c:tx>
          <c:spPr>
            <a:solidFill>
              <a:srgbClr val="E9DDFB"/>
            </a:solidFill>
            <a:effectLst/>
          </c:spPr>
          <c:invertIfNegative val="0"/>
          <c:dLbls>
            <c:numFmt formatCode="&quot;₦&quot;0&quot;m&quot;;;;" sourceLinked="0"/>
            <c:txPr>
              <a:bodyPr/>
              <a:lstStyle/>
              <a:p>
                <a:pPr>
                  <a:defRPr b="1" i="0" strike="noStrike" sz="1400" u="none">
                    <a:solidFill>
                      <a:srgbClr val="1A1423"/>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One influencer</c:v>
                  </c:pt>
                  <c:pt idx="1">
                    <c:v>Cosmo Circle</c:v>
                  </c:pt>
                </c:lvl>
              </c:multiLvlStrCache>
            </c:multiLvlStrRef>
          </c:cat>
          <c:val>
            <c:numRef>
              <c:f>Sheet1!$C$2:$C$3</c:f>
              <c:numCache>
                <c:formatCode>General</c:formatCode>
                <c:ptCount val="2"/>
                <c:pt idx="0">
                  <c:v>0</c:v>
                </c:pt>
                <c:pt idx="1">
                  <c:v>23</c:v>
                </c:pt>
              </c:numCache>
            </c:numRef>
          </c:val>
        </c:ser>
        <c:ser>
          <c:idx val="2"/>
          <c:order val="2"/>
          <c:tx>
            <c:strRef>
              <c:f>Sheet1!$D$1</c:f>
              <c:strCache>
                <c:ptCount val="1"/>
                <c:pt idx="0">
                  <c:v>Phase 2 · Feb–Apr</c:v>
                </c:pt>
              </c:strCache>
            </c:strRef>
          </c:tx>
          <c:spPr>
            <a:solidFill>
              <a:srgbClr val="C9AEF7"/>
            </a:solidFill>
            <a:effectLst/>
          </c:spPr>
          <c:invertIfNegative val="0"/>
          <c:dLbls>
            <c:numFmt formatCode="&quot;₦&quot;0&quot;m&quot;;;;" sourceLinked="0"/>
            <c:txPr>
              <a:bodyPr/>
              <a:lstStyle/>
              <a:p>
                <a:pPr>
                  <a:defRPr b="1" i="0" strike="noStrike" sz="1400" u="none">
                    <a:solidFill>
                      <a:srgbClr val="1A1423"/>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One influencer</c:v>
                  </c:pt>
                  <c:pt idx="1">
                    <c:v>Cosmo Circle</c:v>
                  </c:pt>
                </c:lvl>
              </c:multiLvlStrCache>
            </c:multiLvlStrRef>
          </c:cat>
          <c:val>
            <c:numRef>
              <c:f>Sheet1!$D$2:$D$3</c:f>
              <c:numCache>
                <c:formatCode>General</c:formatCode>
                <c:ptCount val="2"/>
                <c:pt idx="0">
                  <c:v>0</c:v>
                </c:pt>
                <c:pt idx="1">
                  <c:v>39</c:v>
                </c:pt>
              </c:numCache>
            </c:numRef>
          </c:val>
        </c:ser>
        <c:ser>
          <c:idx val="3"/>
          <c:order val="3"/>
          <c:tx>
            <c:strRef>
              <c:f>Sheet1!$E$1</c:f>
              <c:strCache>
                <c:ptCount val="1"/>
                <c:pt idx="0">
                  <c:v>Phase 3 · May–Oct</c:v>
                </c:pt>
              </c:strCache>
            </c:strRef>
          </c:tx>
          <c:spPr>
            <a:solidFill>
              <a:srgbClr val="9B6CF2"/>
            </a:solidFill>
            <a:effectLst/>
          </c:spPr>
          <c:invertIfNegative val="0"/>
          <c:dLbls>
            <c:numFmt formatCode="&quot;₦&quot;0&quot;m&quot;;;;" sourceLinked="0"/>
            <c:txPr>
              <a:bodyPr/>
              <a:lstStyle/>
              <a:p>
                <a:pPr>
                  <a:defRPr b="1" i="0" strike="noStrike" sz="1400" u="none">
                    <a:solidFill>
                      <a:srgbClr val="1A1423"/>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One influencer</c:v>
                  </c:pt>
                  <c:pt idx="1">
                    <c:v>Cosmo Circle</c:v>
                  </c:pt>
                </c:lvl>
              </c:multiLvlStrCache>
            </c:multiLvlStrRef>
          </c:cat>
          <c:val>
            <c:numRef>
              <c:f>Sheet1!$E$2:$E$3</c:f>
              <c:numCache>
                <c:formatCode>General</c:formatCode>
                <c:ptCount val="2"/>
                <c:pt idx="0">
                  <c:v>0</c:v>
                </c:pt>
                <c:pt idx="1">
                  <c:v>58</c:v>
                </c:pt>
              </c:numCache>
            </c:numRef>
          </c:val>
        </c:ser>
        <c:dLbls>
          <c:numFmt formatCode="&quot;₦&quot;0&quot;m&quot;;;;" sourceLinked="0"/>
          <c:txPr>
            <a:bodyPr/>
            <a:lstStyle/>
            <a:p>
              <a:pPr>
                <a:defRPr b="1" i="0" strike="noStrike" sz="1400" u="none">
                  <a:solidFill>
                    <a:srgbClr val="1A1423"/>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A142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A142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ask: we are proposing a community-led growth plan instead of a single ₦150m influencer deal. Every number in this deck was checked against its source page on 28 October 2026; sources are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don't pay ₦150m for one influencer. Spend up to ₦120m over 12 months building the Cosmo Circle. Targets: double monthly revenue by October 2027, 25,000 verified members, 35% of them buying again within 90 days. The money is staged: Phase 1 is ₦23m, and Phases 2 and 3 only unlock if the targets are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Cosmo is not a start-up: it's a UAE range from Sterling Perfumes Group, made in a certified Dubai factory (about 120m pieces a year), sold in 80+ countries. GVS launched it in Nigeria in 2024 with a star-studded event and named Nini, BamBam and Montana as ambassadors. So the gap is not awareness or supply; it's local trust and repeat buying. Because it's imported, we can't claim Made in Nigeria and every naira fall raises our costs. GVS describes the range as organic; in this market that word needs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market estimates are around $1.2bn; the whole market including open markets is about $10bn, so most spending happens informally. Naira sales grew 23% in 2025 but inflation was near 20%, so this is price, not volume. Growth for Cosmo has to come from winning share and repeat buyers. Inflation has fallen to 14.63%, so 2026–27 is a good window to build loyalty. Sources: Euromonitor, Markntel Advisors, Beauty West Africa, NBS via Nairametrics.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NIVEA spent ₦3bn on a scratch-code promotion and produced over 2 million winners: big brands now buy loyalty through proof of purchase. PZ Cussons' profit jump came partly from selling assets. Unilever stopped skin cleansing in 2023, P&amp;G went import-only and GSK moved to a distributor. Local brands like Zaron, Arami and House of Coco win on reach, a hero product or one owned skin problem. NAFDAC found over ₦3bn of fakes in a single Lagos warehouse in February.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loudest message from the market is 'I don't know what's real.' Fakes and hidden bleaching agents are everywhere, and prices keep rising. Each of these has a direct answer in the plan: pack codes, proof instead of the word organic, member pricing, and a clear position on healthy, even skin rather than lighter skin.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Splice's survey of nearly 500 beauty clients: 7 in 10 rely on personal recommendations, 67.4% prefer businesses that offer rewards. NielsenIQ: almost 6 in 10 shoppers switched brands last year because of price. A 2025 Redeemer's University study of 350 social media users found engagement and authenticity drive purchase intent, while an influencer's reach had no significant effect. That's the case for many trusted voices over one big one. Channels: TikTok for discovery, WhatsApp for selling and community. TikTok Shop is not open to Nigerian sellers.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₦150m is about $113,000. At a 45% margin, it needs 13,000 to 33,000 extra orders just to break even, depending on order size, and with one influencer there's no way to prove which sales they caused. Engagement on mega accounts is 0.5–1%, sampled Nigerian creator accounts show around 20% fake followers, and research on Nigerian buyers says reach doesn't drive purchase intent. Cosmo already has three ambassadors: give each a tracking code for 60 days; that sets the bar a ₦150m name must beat. If the CEO still wants a big name: audit the audience, pay for one coded test post, then a smaller fee plus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clockwise from the top. Creators and members post with unique codes; people make a first purchase; they verify the pack code on WhatsApp and become Members; Glow Sessions and rewards bring them back; they buy again and refer friends; the best become Ambassadors who sell, and their posts start the loop again. Because every step leaves a code, we can see the loop turning every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 scratch-code sticker on every pack, applied at GVS's Nigerian warehouse because packs arrive finished from Dubai. Two: three tiers so members always have a next level. Three: monthly Glow Sessions with a dermatologist; tickets cost ₦5,000 and come back as a product voucher, so they attract real buyers. Four: creators are paid for sales, not posts. Five: members who sell, as Ambassadors and verified resellers; this puts Cosmo on more shelves without opening shops.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anyone who verifies a code; they get points, member prices, a birthday gift and a monthly Q&amp;A, and we get their name, phone, city and purchase history. Insider: three purchases or three referrals in six months; early access, event invites, a testing panel and referral credit. Ambassador: the top 1–2% by application; a personal code with 10% commission and the option to resell at wholesale. That's a sales force paid only 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November to January, proves it in Lagos for ₦23m, riding the December festive season; Detty December 2025 drew an estimated ₦396.5bn of spending. Gate 1 at the end of January: 3,000 members, 30% of sales carrying a code, cost per customer of ₦6,000 or less. Phase 2 expands to Abuja and Port Harcourt for ₦39m. Gate 2 at the end of April: 10,000 members, 30% repeat, revenue up 50%. Phase 3 scales for ₦58m. Miss a gate and we pause to fix the weakest number before spending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pack code, creator code, referral code and reseller code ties a sale back to its source. Before launch we record the baseline: six months of revenue, orders, average order value, margin and repeat rate. These are the targets at the three checkpoints. The CEO and the community lead review a weekly dashboard every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plan costs ₦120m over 12 months, ₦30m less than the one influencer, released in three stages: ₦23m, ₦39m, ₦58m. If Phase 1 misses its gate we stop having spent ₦23m, not ₦150m. Commissions and rewards come out of sales, only when sales happen. At a 45% margin, less about 15% for commissions and rewards, each naira of extra sales leaves about 30 kobo, so the plan pays back at about ₦400m of extra sales. If targets are hit, the year adds roughly six months of current sales, so it pays back in year one only if Cosmo already sells about ₦67m a month; below that, scale the spend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start in November we need six things from GVS: the sales baseline, landed cost and margin per product, confirmation the licence allows stickers and promotions, the hero product, NAFDAC status of every product we plan to push, and a full-time community lead. The main risks are the community feeling like spam, a bad skin reaction going viral, and sponsored posts breaching ARCON rules; each has a simple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first 30 days: record the baseline, order pack codes and set up WhatsApp verification, hire a community lead, invite 100 founding members, and hold the first Lagos Glow Session in December. Every sale tracked; every phase 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links for every source are in the Cosmo Growth Strategy doc.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4E176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766560" cy="1737360"/>
          </a:xfrm>
          <a:prstGeom prst="rect">
            <a:avLst/>
          </a:prstGeom>
          <a:noFill/>
          <a:ln/>
        </p:spPr>
        <p:txBody>
          <a:bodyPr wrap="square" rtlCol="0"/>
          <a:lstStyle>
            <a:lvl1pPr algn="l" indent="0" marL="0">
              <a:buNone/>
              <a:defRPr lang="en-US" sz="5400"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703320"/>
            <a:ext cx="6766560" cy="73152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
        <p:nvSpPr>
          <p:cNvPr id="4" name="Text 0"/>
          <p:cNvSpPr/>
          <p:nvPr>
            <p:ph idx="102" type="body" hasCustomPrompt="1"/>
          </p:nvPr>
        </p:nvSpPr>
        <p:spPr>
          <a:xfrm>
            <a:off x="731520" y="5806440"/>
            <a:ext cx="8686800" cy="411480"/>
          </a:xfrm>
          <a:prstGeom prst="rect">
            <a:avLst/>
          </a:prstGeom>
          <a:noFill/>
          <a:ln/>
        </p:spPr>
        <p:txBody>
          <a:bodyPr wrap="square" rtlCol="0"/>
          <a:lstStyle>
            <a:lvl1pPr indent="0" marL="0">
              <a:buNone/>
              <a:defRPr lang="en-US" sz="1200" dirty="0">
                <a:solidFill>
                  <a:schemeClr val="accent6"/>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rtlCol="0"/>
          <a:lstStyle>
            <a:lvl1pPr algn="l" indent="0" marL="0">
              <a:buNone/>
              <a:defRPr lang="en-US" sz="3200" dirty="0">
                <a:solidFill>
                  <a:schemeClr val="tx1"/>
                </a:solidFill>
              </a:defRPr>
            </a:lvl1pPr>
          </a:lstStyle>
          <a:p>
            <a:pPr algn="l" indent="0" marL="0">
              <a:buNone/>
            </a:pPr>
            <a:endParaRPr lang="en-US" sz="32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tx2"/>
                </a:solidFill>
              </a:rPr>
              <a:t>Cosmo Circle  ·  Growth strategy for Cosmo in Nigeria</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TINT">
    <p:bg>
      <p:bgPr>
        <a:solidFill>
          <a:srgbClr val="F7F3F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rtlCol="0"/>
          <a:lstStyle>
            <a:lvl1pPr algn="l" indent="0" marL="0">
              <a:buNone/>
              <a:defRPr lang="en-US" sz="3200" dirty="0">
                <a:solidFill>
                  <a:schemeClr val="tx1"/>
                </a:solidFill>
              </a:defRPr>
            </a:lvl1pPr>
          </a:lstStyle>
          <a:p>
            <a:pPr algn="l" indent="0" marL="0">
              <a:buNone/>
            </a:pPr>
            <a:endParaRPr lang="en-US" sz="32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tx2"/>
                </a:solidFill>
              </a:rPr>
              <a:t>Cosmo Circle  ·  Growth strategy for Cosmo in Nigeria</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rgbClr val="4E176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rtlCol="0"/>
          <a:lstStyle>
            <a:lvl1pPr algn="l" indent="0" marL="0">
              <a:buNone/>
              <a:defRPr lang="en-US" sz="3200" dirty="0">
                <a:solidFill>
                  <a:schemeClr val="bg1"/>
                </a:solidFill>
              </a:defRPr>
            </a:lvl1pPr>
          </a:lstStyle>
          <a:p>
            <a:pPr algn="l" indent="0" marL="0">
              <a:buNone/>
            </a:pPr>
            <a:endParaRPr lang="en-US" sz="32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Cosmo Circle  ·  Growth strategy for Cosmo in Nigeria</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large circle"/>
          <p:cNvSpPr/>
          <p:nvPr/>
        </p:nvSpPr>
        <p:spPr>
          <a:xfrm>
            <a:off x="7589520" y="-1463040"/>
            <a:ext cx="6035040" cy="6035040"/>
          </a:xfrm>
          <a:prstGeom prst="ellipse">
            <a:avLst/>
          </a:prstGeom>
          <a:solidFill>
            <a:schemeClr val="accent1">
              <a:alpha val="45000"/>
            </a:schemeClr>
          </a:solidFill>
          <a:ln/>
        </p:spPr>
      </p:sp>
      <p:sp>
        <p:nvSpPr>
          <p:cNvPr id="3" name="Decor circle"/>
          <p:cNvSpPr/>
          <p:nvPr/>
        </p:nvSpPr>
        <p:spPr>
          <a:xfrm>
            <a:off x="9235440" y="3383280"/>
            <a:ext cx="4023360" cy="4023360"/>
          </a:xfrm>
          <a:prstGeom prst="ellipse">
            <a:avLst/>
          </a:prstGeom>
          <a:solidFill>
            <a:schemeClr val="accent2">
              <a:alpha val="70000"/>
            </a:schemeClr>
          </a:solidFill>
          <a:ln/>
        </p:spPr>
      </p:sp>
      <p:sp>
        <p:nvSpPr>
          <p:cNvPr id="4" name="Decor peach dot"/>
          <p:cNvSpPr/>
          <p:nvPr/>
        </p:nvSpPr>
        <p:spPr>
          <a:xfrm>
            <a:off x="8412480" y="4434840"/>
            <a:ext cx="1005840" cy="1005840"/>
          </a:xfrm>
          <a:prstGeom prst="ellipse">
            <a:avLst/>
          </a:prstGeom>
          <a:solidFill>
            <a:schemeClr val="accent3"/>
          </a:solidFill>
          <a:ln/>
        </p:spPr>
      </p:sp>
      <p:sp>
        <p:nvSpPr>
          <p:cNvPr id="5" name="Decor blush dot"/>
          <p:cNvSpPr/>
          <p:nvPr/>
        </p:nvSpPr>
        <p:spPr>
          <a:xfrm>
            <a:off x="10972800" y="2377440"/>
            <a:ext cx="457200" cy="457200"/>
          </a:xfrm>
          <a:prstGeom prst="ellipse">
            <a:avLst/>
          </a:prstGeom>
          <a:solidFill>
            <a:schemeClr val="accent4"/>
          </a:solidFill>
          <a:ln/>
        </p:spPr>
      </p:sp>
      <p:sp>
        <p:nvSpPr>
          <p:cNvPr id="6" name="Tag"/>
          <p:cNvSpPr txBox="1"/>
          <p:nvPr/>
        </p:nvSpPr>
        <p:spPr>
          <a:xfrm>
            <a:off x="731520" y="1234440"/>
            <a:ext cx="2377440" cy="384048"/>
          </a:xfrm>
          <a:prstGeom prst="roundRect">
            <a:avLst>
              <a:gd name="adj" fmla="val 50000"/>
            </a:avLst>
          </a:prstGeom>
          <a:solidFill>
            <a:schemeClr val="accent6"/>
          </a:solidFill>
          <a:ln/>
        </p:spPr>
        <p:txBody>
          <a:bodyPr wrap="square" lIns="0" tIns="0" rIns="0" bIns="0" rtlCol="0" anchor="ctr"/>
          <a:lstStyle/>
          <a:p>
            <a:pPr algn="ctr" indent="0" marL="0">
              <a:buNone/>
            </a:pPr>
            <a:r>
              <a:rPr lang="en-US" sz="1100" b="1" dirty="0">
                <a:solidFill>
                  <a:schemeClr val="tx2"/>
                </a:solidFill>
              </a:rPr>
              <a:t>STRATEGY PROPOSAL</a:t>
            </a:r>
            <a:endParaRPr lang="en-US" sz="1100" dirty="0"/>
          </a:p>
        </p:txBody>
      </p:sp>
      <p:sp>
        <p:nvSpPr>
          <p:cNvPr id="7" name="Text 0"/>
          <p:cNvSpPr/>
          <p:nvPr>
            <p:ph idx="100" type="title" hasCustomPrompt="1"/>
          </p:nvPr>
        </p:nvSpPr>
        <p:spPr>
          <a:xfrm>
            <a:off x="731520" y="1828800"/>
            <a:ext cx="6766560" cy="1737360"/>
          </a:xfrm>
          <a:prstGeom prst="rect">
            <a:avLst/>
          </a:prstGeom>
          <a:noFill/>
          <a:ln/>
        </p:spPr>
        <p:txBody>
          <a:bodyPr wrap="square" lIns="0" tIns="0" rIns="0" bIns="0" rtlCol="0" anchor="b"/>
          <a:lstStyle/>
          <a:p>
            <a:pPr algn="l" indent="0" marL="0">
              <a:buNone/>
            </a:pPr>
            <a:r>
              <a:rPr lang="en-US" sz="5400" dirty="0">
                <a:solidFill>
                  <a:schemeClr val="bg1"/>
                </a:solidFill>
              </a:rPr>
              <a:t>The Cosmo Circle</a:t>
            </a:r>
            <a:endParaRPr lang="en-US" sz="5400" dirty="0"/>
          </a:p>
        </p:txBody>
      </p:sp>
      <p:sp>
        <p:nvSpPr>
          <p:cNvPr id="8" name="Text 0"/>
          <p:cNvSpPr/>
          <p:nvPr>
            <p:ph idx="101" type="body" hasCustomPrompt="1"/>
          </p:nvPr>
        </p:nvSpPr>
        <p:spPr>
          <a:xfrm>
            <a:off x="731520" y="3703320"/>
            <a:ext cx="6766560" cy="731520"/>
          </a:xfrm>
          <a:prstGeom prst="rect">
            <a:avLst/>
          </a:prstGeom>
          <a:noFill/>
          <a:ln/>
        </p:spPr>
        <p:txBody>
          <a:bodyPr wrap="square" lIns="0" tIns="0" rIns="0" bIns="0" rtlCol="0" anchor="t"/>
          <a:lstStyle/>
          <a:p>
            <a:pPr indent="0" marL="0">
              <a:buNone/>
            </a:pPr>
            <a:r>
              <a:rPr lang="en-US" sz="2200" dirty="0">
                <a:solidFill>
                  <a:schemeClr val="accent6"/>
                </a:solidFill>
              </a:rPr>
              <a:t>Turning word of mouth into repeat sales</a:t>
            </a:r>
            <a:endParaRPr lang="en-US" sz="2200" dirty="0"/>
          </a:p>
        </p:txBody>
      </p:sp>
      <p:sp>
        <p:nvSpPr>
          <p:cNvPr id="9" name="Text 0"/>
          <p:cNvSpPr/>
          <p:nvPr>
            <p:ph idx="102" type="body" hasCustomPrompt="1"/>
          </p:nvPr>
        </p:nvSpPr>
        <p:spPr>
          <a:xfrm>
            <a:off x="731520" y="5806440"/>
            <a:ext cx="8686800" cy="411480"/>
          </a:xfrm>
          <a:prstGeom prst="rect">
            <a:avLst/>
          </a:prstGeom>
          <a:noFill/>
          <a:ln/>
        </p:spPr>
        <p:txBody>
          <a:bodyPr wrap="square" lIns="0" tIns="0" rIns="0" bIns="0" rtlCol="0" anchor="ctr"/>
          <a:lstStyle/>
          <a:p>
            <a:pPr indent="0" marL="0">
              <a:buNone/>
            </a:pPr>
            <a:r>
              <a:rPr lang="en-US" sz="1200" dirty="0">
                <a:solidFill>
                  <a:schemeClr val="accent6"/>
                </a:solidFill>
              </a:rPr>
              <a:t>Growth strategy for Cosmo in Nigeria  ·  Prepared for GVS Cosmetics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t"/>
          <a:lstStyle/>
          <a:p>
            <a:pPr algn="l" indent="0" marL="0">
              <a:buNone/>
            </a:pPr>
            <a:r>
              <a:rPr lang="en-US" sz="3200" dirty="0">
                <a:solidFill>
                  <a:schemeClr val="tx1"/>
                </a:solidFill>
              </a:rPr>
              <a:t>Build a community that sells, not a ₦150m billboard</a:t>
            </a:r>
            <a:endParaRPr lang="en-US" sz="3200" dirty="0"/>
          </a:p>
        </p:txBody>
      </p:sp>
      <p:sp>
        <p:nvSpPr>
          <p:cNvPr id="3" name="Recommendation"/>
          <p:cNvSpPr txBox="1"/>
          <p:nvPr/>
        </p:nvSpPr>
        <p:spPr>
          <a:xfrm>
            <a:off x="548640" y="1508760"/>
            <a:ext cx="6583680" cy="1463040"/>
          </a:xfrm>
          <a:prstGeom prst="rect">
            <a:avLst/>
          </a:prstGeom>
          <a:noFill/>
          <a:ln/>
        </p:spPr>
        <p:txBody>
          <a:bodyPr wrap="square" lIns="0" tIns="0" rIns="0" bIns="0" rtlCol="0" anchor="t"/>
          <a:lstStyle/>
          <a:p>
            <a:pPr indent="0" marL="0">
              <a:buNone/>
            </a:pPr>
            <a:r>
              <a:rPr lang="en-US" sz="2000" dirty="0">
                <a:solidFill>
                  <a:schemeClr val="tx1"/>
                </a:solidFill>
              </a:rPr>
              <a:t>Instead of paying one influencer ₦150m upfront, invest up to </a:t>
            </a:r>
            <a:pPr indent="0" marL="0">
              <a:buNone/>
            </a:pPr>
            <a:r>
              <a:rPr lang="en-US" sz="2000" b="1" dirty="0">
                <a:solidFill>
                  <a:schemeClr val="accent1"/>
                </a:solidFill>
              </a:rPr>
              <a:t>₦120m over 12 months</a:t>
            </a:r>
            <a:pPr indent="0" marL="0">
              <a:buNone/>
            </a:pPr>
            <a:r>
              <a:rPr lang="en-US" sz="2000" dirty="0">
                <a:solidFill>
                  <a:schemeClr val="tx1"/>
                </a:solidFill>
              </a:rPr>
              <a:t> in the Cosmo Circle: verified buyers who meet, share and sell, with every sale tracked by a code.</a:t>
            </a:r>
            <a:endParaRPr lang="en-US" sz="2000" dirty="0"/>
          </a:p>
        </p:txBody>
      </p:sp>
      <p:sp>
        <p:nvSpPr>
          <p:cNvPr id="4" name="Risk card"/>
          <p:cNvSpPr/>
          <p:nvPr/>
        </p:nvSpPr>
        <p:spPr>
          <a:xfrm>
            <a:off x="7589520" y="1508760"/>
            <a:ext cx="4023360" cy="1463040"/>
          </a:xfrm>
          <a:prstGeom prst="roundRect">
            <a:avLst>
              <a:gd name="adj" fmla="val 10000"/>
            </a:avLst>
          </a:prstGeom>
          <a:solidFill>
            <a:schemeClr val="accent4"/>
          </a:solidFill>
          <a:ln/>
          <a:effectLst>
            <a:outerShdw sx="100000" sy="100000" kx="0" ky="0" algn="bl" rotWithShape="0" blurRad="127000" dist="38100" dir="5400000">
              <a:srgbClr val="4E176B">
                <a:alpha val="12000"/>
              </a:srgbClr>
            </a:outerShdw>
          </a:effectLst>
        </p:spPr>
      </p:sp>
      <p:sp>
        <p:nvSpPr>
          <p:cNvPr id="5" name="Risk text"/>
          <p:cNvSpPr txBox="1"/>
          <p:nvPr/>
        </p:nvSpPr>
        <p:spPr>
          <a:xfrm>
            <a:off x="7863840" y="1645920"/>
            <a:ext cx="3566160" cy="1188720"/>
          </a:xfrm>
          <a:prstGeom prst="rect">
            <a:avLst/>
          </a:prstGeom>
          <a:noFill/>
          <a:ln/>
        </p:spPr>
        <p:txBody>
          <a:bodyPr wrap="square" lIns="0" tIns="0" rIns="0" bIns="0" rtlCol="0" anchor="ctr"/>
          <a:lstStyle/>
          <a:p>
            <a:pPr indent="0" marL="0">
              <a:buNone/>
            </a:pPr>
            <a:r>
              <a:rPr lang="en-US" sz="1500" b="1" dirty="0">
                <a:solidFill>
                  <a:schemeClr val="tx2"/>
                </a:solidFill>
              </a:rPr>
              <a:t>Staged, not all at once</a:t>
            </a:r>
            <a:endParaRPr lang="en-US" sz="1500" dirty="0"/>
          </a:p>
          <a:p>
            <a:pPr indent="0" marL="0">
              <a:buNone/>
            </a:pPr>
            <a:r>
              <a:rPr lang="en-US" sz="1500" dirty="0">
                <a:solidFill>
                  <a:schemeClr val="tx1"/>
                </a:solidFill>
              </a:rPr>
              <a:t>Phase 1 risks ₦23m. Each later phase unlocks only when targets are hit.</a:t>
            </a:r>
            <a:endParaRPr lang="en-US" sz="1500" dirty="0"/>
          </a:p>
        </p:txBody>
      </p:sp>
      <p:sp>
        <p:nvSpPr>
          <p:cNvPr id="6" name="Target card 1"/>
          <p:cNvSpPr/>
          <p:nvPr/>
        </p:nvSpPr>
        <p:spPr>
          <a:xfrm>
            <a:off x="548640" y="3429000"/>
            <a:ext cx="3520440" cy="2331720"/>
          </a:xfrm>
          <a:prstGeom prst="roundRect">
            <a:avLst>
              <a:gd name="adj" fmla="val 6275"/>
            </a:avLst>
          </a:prstGeom>
          <a:solidFill>
            <a:schemeClr val="accent1"/>
          </a:solidFill>
          <a:ln/>
          <a:effectLst>
            <a:outerShdw sx="100000" sy="100000" kx="0" ky="0" algn="bl" rotWithShape="0" blurRad="127000" dist="38100" dir="5400000">
              <a:srgbClr val="4E176B">
                <a:alpha val="12000"/>
              </a:srgbClr>
            </a:outerShdw>
          </a:effectLst>
        </p:spPr>
      </p:sp>
      <p:sp>
        <p:nvSpPr>
          <p:cNvPr id="7" name="Target value 1"/>
          <p:cNvSpPr txBox="1"/>
          <p:nvPr/>
        </p:nvSpPr>
        <p:spPr>
          <a:xfrm>
            <a:off x="868680" y="3611880"/>
            <a:ext cx="2926080" cy="1143000"/>
          </a:xfrm>
          <a:prstGeom prst="rect">
            <a:avLst/>
          </a:prstGeom>
          <a:noFill/>
          <a:ln/>
        </p:spPr>
        <p:txBody>
          <a:bodyPr wrap="square" lIns="0" tIns="0" rIns="0" bIns="0" rtlCol="0" anchor="b"/>
          <a:lstStyle/>
          <a:p>
            <a:pPr indent="0" marL="0">
              <a:buNone/>
            </a:pPr>
            <a:r>
              <a:rPr lang="en-US" sz="5400" dirty="0">
                <a:solidFill>
                  <a:schemeClr val="bg1"/>
                </a:solidFill>
                <a:latin typeface="Georgia" pitchFamily="34" charset="0"/>
                <a:ea typeface="Georgia" pitchFamily="34" charset="-122"/>
                <a:cs typeface="Georgia" pitchFamily="34" charset="-120"/>
              </a:rPr>
              <a:t>2×</a:t>
            </a:r>
            <a:endParaRPr lang="en-US" sz="5400" dirty="0"/>
          </a:p>
        </p:txBody>
      </p:sp>
      <p:sp>
        <p:nvSpPr>
          <p:cNvPr id="8" name="Target label 1"/>
          <p:cNvSpPr txBox="1"/>
          <p:nvPr/>
        </p:nvSpPr>
        <p:spPr>
          <a:xfrm>
            <a:off x="868680" y="4846320"/>
            <a:ext cx="2926080" cy="731520"/>
          </a:xfrm>
          <a:prstGeom prst="rect">
            <a:avLst/>
          </a:prstGeom>
          <a:noFill/>
          <a:ln/>
        </p:spPr>
        <p:txBody>
          <a:bodyPr wrap="square" lIns="0" tIns="0" rIns="0" bIns="0" rtlCol="0" anchor="t"/>
          <a:lstStyle/>
          <a:p>
            <a:pPr indent="0" marL="0">
              <a:buNone/>
            </a:pPr>
            <a:r>
              <a:rPr lang="en-US" sz="1500" dirty="0">
                <a:solidFill>
                  <a:schemeClr val="bg1"/>
                </a:solidFill>
              </a:rPr>
              <a:t>monthly revenue by October 2027</a:t>
            </a:r>
            <a:endParaRPr lang="en-US" sz="1500" dirty="0"/>
          </a:p>
        </p:txBody>
      </p:sp>
      <p:sp>
        <p:nvSpPr>
          <p:cNvPr id="9" name="Target card 2"/>
          <p:cNvSpPr/>
          <p:nvPr/>
        </p:nvSpPr>
        <p:spPr>
          <a:xfrm>
            <a:off x="4297680" y="3429000"/>
            <a:ext cx="3520440" cy="2331720"/>
          </a:xfrm>
          <a:prstGeom prst="roundRect">
            <a:avLst>
              <a:gd name="adj" fmla="val 6275"/>
            </a:avLst>
          </a:prstGeom>
          <a:solidFill>
            <a:schemeClr val="tx2"/>
          </a:solidFill>
          <a:ln/>
          <a:effectLst>
            <a:outerShdw sx="100000" sy="100000" kx="0" ky="0" algn="bl" rotWithShape="0" blurRad="127000" dist="38100" dir="5400000">
              <a:srgbClr val="4E176B">
                <a:alpha val="12000"/>
              </a:srgbClr>
            </a:outerShdw>
          </a:effectLst>
        </p:spPr>
      </p:sp>
      <p:sp>
        <p:nvSpPr>
          <p:cNvPr id="10" name="Target value 2"/>
          <p:cNvSpPr txBox="1"/>
          <p:nvPr/>
        </p:nvSpPr>
        <p:spPr>
          <a:xfrm>
            <a:off x="4617720" y="3611880"/>
            <a:ext cx="2926080" cy="1143000"/>
          </a:xfrm>
          <a:prstGeom prst="rect">
            <a:avLst/>
          </a:prstGeom>
          <a:noFill/>
          <a:ln/>
        </p:spPr>
        <p:txBody>
          <a:bodyPr wrap="square" lIns="0" tIns="0" rIns="0" bIns="0" rtlCol="0" anchor="b"/>
          <a:lstStyle/>
          <a:p>
            <a:pPr indent="0" marL="0">
              <a:buNone/>
            </a:pPr>
            <a:r>
              <a:rPr lang="en-US" sz="5400" dirty="0">
                <a:solidFill>
                  <a:schemeClr val="bg1"/>
                </a:solidFill>
                <a:latin typeface="Georgia" pitchFamily="34" charset="0"/>
                <a:ea typeface="Georgia" pitchFamily="34" charset="-122"/>
                <a:cs typeface="Georgia" pitchFamily="34" charset="-120"/>
              </a:rPr>
              <a:t>25,000</a:t>
            </a:r>
            <a:endParaRPr lang="en-US" sz="5400" dirty="0"/>
          </a:p>
        </p:txBody>
      </p:sp>
      <p:sp>
        <p:nvSpPr>
          <p:cNvPr id="11" name="Target label 2"/>
          <p:cNvSpPr txBox="1"/>
          <p:nvPr/>
        </p:nvSpPr>
        <p:spPr>
          <a:xfrm>
            <a:off x="4617720" y="4846320"/>
            <a:ext cx="2926080" cy="731520"/>
          </a:xfrm>
          <a:prstGeom prst="rect">
            <a:avLst/>
          </a:prstGeom>
          <a:noFill/>
          <a:ln/>
        </p:spPr>
        <p:txBody>
          <a:bodyPr wrap="square" lIns="0" tIns="0" rIns="0" bIns="0" rtlCol="0" anchor="t"/>
          <a:lstStyle/>
          <a:p>
            <a:pPr indent="0" marL="0">
              <a:buNone/>
            </a:pPr>
            <a:r>
              <a:rPr lang="en-US" sz="1500" dirty="0">
                <a:solidFill>
                  <a:schemeClr val="bg1"/>
                </a:solidFill>
              </a:rPr>
              <a:t>verified members by October 2027</a:t>
            </a:r>
            <a:endParaRPr lang="en-US" sz="1500" dirty="0"/>
          </a:p>
        </p:txBody>
      </p:sp>
      <p:sp>
        <p:nvSpPr>
          <p:cNvPr id="12" name="Target card 3"/>
          <p:cNvSpPr/>
          <p:nvPr/>
        </p:nvSpPr>
        <p:spPr>
          <a:xfrm>
            <a:off x="8046720" y="3429000"/>
            <a:ext cx="3520440" cy="2331720"/>
          </a:xfrm>
          <a:prstGeom prst="roundRect">
            <a:avLst>
              <a:gd name="adj" fmla="val 6275"/>
            </a:avLst>
          </a:prstGeom>
          <a:solidFill>
            <a:schemeClr val="accent3"/>
          </a:solidFill>
          <a:ln/>
          <a:effectLst>
            <a:outerShdw sx="100000" sy="100000" kx="0" ky="0" algn="bl" rotWithShape="0" blurRad="127000" dist="38100" dir="5400000">
              <a:srgbClr val="4E176B">
                <a:alpha val="12000"/>
              </a:srgbClr>
            </a:outerShdw>
          </a:effectLst>
        </p:spPr>
      </p:sp>
      <p:sp>
        <p:nvSpPr>
          <p:cNvPr id="13" name="Target value 3"/>
          <p:cNvSpPr txBox="1"/>
          <p:nvPr/>
        </p:nvSpPr>
        <p:spPr>
          <a:xfrm>
            <a:off x="8366760" y="3611880"/>
            <a:ext cx="2926080" cy="1143000"/>
          </a:xfrm>
          <a:prstGeom prst="rect">
            <a:avLst/>
          </a:prstGeom>
          <a:noFill/>
          <a:ln/>
        </p:spPr>
        <p:txBody>
          <a:bodyPr wrap="square" lIns="0" tIns="0" rIns="0" bIns="0" rtlCol="0" anchor="b"/>
          <a:lstStyle/>
          <a:p>
            <a:pPr indent="0" marL="0">
              <a:buNone/>
            </a:pPr>
            <a:r>
              <a:rPr lang="en-US" sz="5400" dirty="0">
                <a:solidFill>
                  <a:schemeClr val="tx1"/>
                </a:solidFill>
                <a:latin typeface="Georgia" pitchFamily="34" charset="0"/>
                <a:ea typeface="Georgia" pitchFamily="34" charset="-122"/>
                <a:cs typeface="Georgia" pitchFamily="34" charset="-120"/>
              </a:rPr>
              <a:t>35%</a:t>
            </a:r>
            <a:endParaRPr lang="en-US" sz="5400" dirty="0"/>
          </a:p>
        </p:txBody>
      </p:sp>
      <p:sp>
        <p:nvSpPr>
          <p:cNvPr id="14" name="Target label 3"/>
          <p:cNvSpPr txBox="1"/>
          <p:nvPr/>
        </p:nvSpPr>
        <p:spPr>
          <a:xfrm>
            <a:off x="8366760" y="4846320"/>
            <a:ext cx="2926080" cy="731520"/>
          </a:xfrm>
          <a:prstGeom prst="rect">
            <a:avLst/>
          </a:prstGeom>
          <a:noFill/>
          <a:ln/>
        </p:spPr>
        <p:txBody>
          <a:bodyPr wrap="square" lIns="0" tIns="0" rIns="0" bIns="0" rtlCol="0" anchor="t"/>
          <a:lstStyle/>
          <a:p>
            <a:pPr indent="0" marL="0">
              <a:buNone/>
            </a:pPr>
            <a:r>
              <a:rPr lang="en-US" sz="1500" dirty="0">
                <a:solidFill>
                  <a:schemeClr val="tx1"/>
                </a:solidFill>
              </a:rPr>
              <a:t>of members buying again within 90 days</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t"/>
          <a:lstStyle/>
          <a:p>
            <a:pPr algn="l" indent="0" marL="0">
              <a:buNone/>
            </a:pPr>
            <a:r>
              <a:rPr lang="en-US" sz="3200" dirty="0">
                <a:solidFill>
                  <a:schemeClr val="tx1"/>
                </a:solidFill>
              </a:rPr>
              <a:t>Cosmo has awareness. What it needs now is loyalty</a:t>
            </a:r>
            <a:endParaRPr lang="en-US" sz="3200" dirty="0"/>
          </a:p>
        </p:txBody>
      </p:sp>
      <p:sp>
        <p:nvSpPr>
          <p:cNvPr id="3" name="Fact card 1"/>
          <p:cNvSpPr/>
          <p:nvPr/>
        </p:nvSpPr>
        <p:spPr>
          <a:xfrm>
            <a:off x="548640" y="1554480"/>
            <a:ext cx="3200400" cy="2011680"/>
          </a:xfrm>
          <a:prstGeom prst="roundRect">
            <a:avLst>
              <a:gd name="adj" fmla="val 7273"/>
            </a:avLst>
          </a:prstGeom>
          <a:solidFill>
            <a:schemeClr val="bg2"/>
          </a:solidFill>
          <a:ln/>
          <a:effectLst>
            <a:outerShdw sx="100000" sy="100000" kx="0" ky="0" algn="bl" rotWithShape="0" blurRad="127000" dist="38100" dir="5400000">
              <a:srgbClr val="4E176B">
                <a:alpha val="12000"/>
              </a:srgbClr>
            </a:outerShdw>
          </a:effectLst>
        </p:spPr>
      </p:sp>
      <p:sp>
        <p:nvSpPr>
          <p:cNvPr id="4" name="Made in Dubai circle"/>
          <p:cNvSpPr/>
          <p:nvPr/>
        </p:nvSpPr>
        <p:spPr>
          <a:xfrm>
            <a:off x="822960" y="1828800"/>
            <a:ext cx="640080" cy="640080"/>
          </a:xfrm>
          <a:prstGeom prst="ellipse">
            <a:avLst/>
          </a:prstGeom>
          <a:solidFill>
            <a:schemeClr val="accent1"/>
          </a:solidFill>
          <a:ln/>
        </p:spPr>
      </p:sp>
      <p:pic>
        <p:nvPicPr>
          <p:cNvPr id="5" name="Made in Dubai icon" descr="Made in Dubai">    </p:cNvPr>
          <p:cNvPicPr>
            <a:picLocks noChangeAspect="1"/>
          </p:cNvPicPr>
          <p:nvPr/>
        </p:nvPicPr>
        <p:blipFill>
          <a:blip r:embed="rId1"/>
          <a:stretch>
            <a:fillRect/>
          </a:stretch>
        </p:blipFill>
        <p:spPr>
          <a:xfrm>
            <a:off x="982980" y="1988820"/>
            <a:ext cx="320040" cy="320040"/>
          </a:xfrm>
          <a:prstGeom prst="rect">
            <a:avLst/>
          </a:prstGeom>
        </p:spPr>
      </p:pic>
      <p:sp>
        <p:nvSpPr>
          <p:cNvPr id="6" name="Text 3"/>
          <p:cNvSpPr txBox="1"/>
          <p:nvPr/>
        </p:nvSpPr>
        <p:spPr>
          <a:xfrm>
            <a:off x="822960" y="2560320"/>
            <a:ext cx="2697480" cy="365760"/>
          </a:xfrm>
          <a:prstGeom prst="rect">
            <a:avLst/>
          </a:prstGeom>
          <a:noFill/>
          <a:ln/>
        </p:spPr>
        <p:txBody>
          <a:bodyPr wrap="square" lIns="0" tIns="0" rIns="0" bIns="0" rtlCol="0" anchor="ctr"/>
          <a:lstStyle/>
          <a:p>
            <a:pPr indent="0" marL="0">
              <a:buNone/>
            </a:pPr>
            <a:r>
              <a:rPr lang="en-US" sz="1700" b="1" dirty="0">
                <a:solidFill>
                  <a:schemeClr val="tx2"/>
                </a:solidFill>
              </a:rPr>
              <a:t>Made in Dubai</a:t>
            </a:r>
            <a:endParaRPr lang="en-US" sz="1700" dirty="0"/>
          </a:p>
        </p:txBody>
      </p:sp>
      <p:sp>
        <p:nvSpPr>
          <p:cNvPr id="7" name="Text 4"/>
          <p:cNvSpPr txBox="1"/>
          <p:nvPr/>
        </p:nvSpPr>
        <p:spPr>
          <a:xfrm>
            <a:off x="822960" y="2926080"/>
            <a:ext cx="2697480" cy="566928"/>
          </a:xfrm>
          <a:prstGeom prst="rect">
            <a:avLst/>
          </a:prstGeom>
          <a:noFill/>
          <a:ln/>
        </p:spPr>
        <p:txBody>
          <a:bodyPr wrap="square" lIns="0" tIns="0" rIns="0" bIns="0" rtlCol="0" anchor="t"/>
          <a:lstStyle/>
          <a:p>
            <a:pPr indent="0" marL="0">
              <a:buNone/>
            </a:pPr>
            <a:r>
              <a:rPr lang="en-US" sz="1300" dirty="0">
                <a:solidFill>
                  <a:schemeClr val="tx1"/>
                </a:solidFill>
              </a:rPr>
              <a:t>Sterling Perfumes Group; ISO 22716, ISO 9001 and Halal certified</a:t>
            </a:r>
            <a:endParaRPr lang="en-US" sz="1300" dirty="0"/>
          </a:p>
        </p:txBody>
      </p:sp>
      <p:sp>
        <p:nvSpPr>
          <p:cNvPr id="8" name="Fact card 2"/>
          <p:cNvSpPr/>
          <p:nvPr/>
        </p:nvSpPr>
        <p:spPr>
          <a:xfrm>
            <a:off x="3977640" y="1554480"/>
            <a:ext cx="3200400" cy="2011680"/>
          </a:xfrm>
          <a:prstGeom prst="roundRect">
            <a:avLst>
              <a:gd name="adj" fmla="val 7273"/>
            </a:avLst>
          </a:prstGeom>
          <a:solidFill>
            <a:schemeClr val="bg2"/>
          </a:solidFill>
          <a:ln/>
          <a:effectLst>
            <a:outerShdw sx="100000" sy="100000" kx="0" ky="0" algn="bl" rotWithShape="0" blurRad="127000" dist="38100" dir="5400000">
              <a:srgbClr val="4E176B">
                <a:alpha val="12000"/>
              </a:srgbClr>
            </a:outerShdw>
          </a:effectLst>
        </p:spPr>
      </p:sp>
      <p:sp>
        <p:nvSpPr>
          <p:cNvPr id="9" name="80+ countries circle"/>
          <p:cNvSpPr/>
          <p:nvPr/>
        </p:nvSpPr>
        <p:spPr>
          <a:xfrm>
            <a:off x="4251960" y="1828800"/>
            <a:ext cx="640080" cy="640080"/>
          </a:xfrm>
          <a:prstGeom prst="ellipse">
            <a:avLst/>
          </a:prstGeom>
          <a:solidFill>
            <a:schemeClr val="accent1"/>
          </a:solidFill>
          <a:ln/>
        </p:spPr>
      </p:sp>
      <p:pic>
        <p:nvPicPr>
          <p:cNvPr id="10" name="80+ countries icon" descr="80+ countries">    </p:cNvPr>
          <p:cNvPicPr>
            <a:picLocks noChangeAspect="1"/>
          </p:cNvPicPr>
          <p:nvPr/>
        </p:nvPicPr>
        <p:blipFill>
          <a:blip r:embed="rId2"/>
          <a:stretch>
            <a:fillRect/>
          </a:stretch>
        </p:blipFill>
        <p:spPr>
          <a:xfrm>
            <a:off x="4411980" y="1988820"/>
            <a:ext cx="320040" cy="320040"/>
          </a:xfrm>
          <a:prstGeom prst="rect">
            <a:avLst/>
          </a:prstGeom>
        </p:spPr>
      </p:pic>
      <p:sp>
        <p:nvSpPr>
          <p:cNvPr id="11" name="Text 7"/>
          <p:cNvSpPr txBox="1"/>
          <p:nvPr/>
        </p:nvSpPr>
        <p:spPr>
          <a:xfrm>
            <a:off x="4251960" y="2560320"/>
            <a:ext cx="2697480" cy="365760"/>
          </a:xfrm>
          <a:prstGeom prst="rect">
            <a:avLst/>
          </a:prstGeom>
          <a:noFill/>
          <a:ln/>
        </p:spPr>
        <p:txBody>
          <a:bodyPr wrap="square" lIns="0" tIns="0" rIns="0" bIns="0" rtlCol="0" anchor="ctr"/>
          <a:lstStyle/>
          <a:p>
            <a:pPr indent="0" marL="0">
              <a:buNone/>
            </a:pPr>
            <a:r>
              <a:rPr lang="en-US" sz="1700" b="1" dirty="0">
                <a:solidFill>
                  <a:schemeClr val="tx2"/>
                </a:solidFill>
              </a:rPr>
              <a:t>80+ countries</a:t>
            </a:r>
            <a:endParaRPr lang="en-US" sz="1700" dirty="0"/>
          </a:p>
        </p:txBody>
      </p:sp>
      <p:sp>
        <p:nvSpPr>
          <p:cNvPr id="12" name="Text 8"/>
          <p:cNvSpPr txBox="1"/>
          <p:nvPr/>
        </p:nvSpPr>
        <p:spPr>
          <a:xfrm>
            <a:off x="4251960" y="2926080"/>
            <a:ext cx="2697480" cy="566928"/>
          </a:xfrm>
          <a:prstGeom prst="rect">
            <a:avLst/>
          </a:prstGeom>
          <a:noFill/>
          <a:ln/>
        </p:spPr>
        <p:txBody>
          <a:bodyPr wrap="square" lIns="0" tIns="0" rIns="0" bIns="0" rtlCol="0" anchor="t"/>
          <a:lstStyle/>
          <a:p>
            <a:pPr indent="0" marL="0">
              <a:buNone/>
            </a:pPr>
            <a:r>
              <a:rPr lang="en-US" sz="1300" dirty="0">
                <a:solidFill>
                  <a:schemeClr val="tx1"/>
                </a:solidFill>
              </a:rPr>
              <a:t>Founded 2018; 2,500+ products across 20+ categories</a:t>
            </a:r>
            <a:endParaRPr lang="en-US" sz="1300" dirty="0"/>
          </a:p>
        </p:txBody>
      </p:sp>
      <p:sp>
        <p:nvSpPr>
          <p:cNvPr id="13" name="Fact card 3"/>
          <p:cNvSpPr/>
          <p:nvPr/>
        </p:nvSpPr>
        <p:spPr>
          <a:xfrm>
            <a:off x="548640" y="3794760"/>
            <a:ext cx="3200400" cy="2011680"/>
          </a:xfrm>
          <a:prstGeom prst="roundRect">
            <a:avLst>
              <a:gd name="adj" fmla="val 7273"/>
            </a:avLst>
          </a:prstGeom>
          <a:solidFill>
            <a:schemeClr val="bg2"/>
          </a:solidFill>
          <a:ln/>
          <a:effectLst>
            <a:outerShdw sx="100000" sy="100000" kx="0" ky="0" algn="bl" rotWithShape="0" blurRad="127000" dist="38100" dir="5400000">
              <a:srgbClr val="4E176B">
                <a:alpha val="12000"/>
              </a:srgbClr>
            </a:outerShdw>
          </a:effectLst>
        </p:spPr>
      </p:sp>
      <p:sp>
        <p:nvSpPr>
          <p:cNvPr id="14" name="Launched in 2024 circle"/>
          <p:cNvSpPr/>
          <p:nvPr/>
        </p:nvSpPr>
        <p:spPr>
          <a:xfrm>
            <a:off x="822960" y="4069080"/>
            <a:ext cx="640080" cy="640080"/>
          </a:xfrm>
          <a:prstGeom prst="ellipse">
            <a:avLst/>
          </a:prstGeom>
          <a:solidFill>
            <a:schemeClr val="accent1"/>
          </a:solidFill>
          <a:ln/>
        </p:spPr>
      </p:sp>
      <p:pic>
        <p:nvPicPr>
          <p:cNvPr id="15" name="Launched in 2024 icon" descr="Launched in 2024">    </p:cNvPr>
          <p:cNvPicPr>
            <a:picLocks noChangeAspect="1"/>
          </p:cNvPicPr>
          <p:nvPr/>
        </p:nvPicPr>
        <p:blipFill>
          <a:blip r:embed="rId3"/>
          <a:stretch>
            <a:fillRect/>
          </a:stretch>
        </p:blipFill>
        <p:spPr>
          <a:xfrm>
            <a:off x="982980" y="4229100"/>
            <a:ext cx="320040" cy="320040"/>
          </a:xfrm>
          <a:prstGeom prst="rect">
            <a:avLst/>
          </a:prstGeom>
        </p:spPr>
      </p:pic>
      <p:sp>
        <p:nvSpPr>
          <p:cNvPr id="16" name="Text 11"/>
          <p:cNvSpPr txBox="1"/>
          <p:nvPr/>
        </p:nvSpPr>
        <p:spPr>
          <a:xfrm>
            <a:off x="822960" y="4800600"/>
            <a:ext cx="2697480" cy="365760"/>
          </a:xfrm>
          <a:prstGeom prst="rect">
            <a:avLst/>
          </a:prstGeom>
          <a:noFill/>
          <a:ln/>
        </p:spPr>
        <p:txBody>
          <a:bodyPr wrap="square" lIns="0" tIns="0" rIns="0" bIns="0" rtlCol="0" anchor="ctr"/>
          <a:lstStyle/>
          <a:p>
            <a:pPr indent="0" marL="0">
              <a:buNone/>
            </a:pPr>
            <a:r>
              <a:rPr lang="en-US" sz="1700" b="1" dirty="0">
                <a:solidFill>
                  <a:schemeClr val="tx2"/>
                </a:solidFill>
              </a:rPr>
              <a:t>Launched in 2024</a:t>
            </a:r>
            <a:endParaRPr lang="en-US" sz="1700" dirty="0"/>
          </a:p>
        </p:txBody>
      </p:sp>
      <p:sp>
        <p:nvSpPr>
          <p:cNvPr id="17" name="Text 12"/>
          <p:cNvSpPr txBox="1"/>
          <p:nvPr/>
        </p:nvSpPr>
        <p:spPr>
          <a:xfrm>
            <a:off x="822960" y="5166360"/>
            <a:ext cx="2697480" cy="566928"/>
          </a:xfrm>
          <a:prstGeom prst="rect">
            <a:avLst/>
          </a:prstGeom>
          <a:noFill/>
          <a:ln/>
        </p:spPr>
        <p:txBody>
          <a:bodyPr wrap="square" lIns="0" tIns="0" rIns="0" bIns="0" rtlCol="0" anchor="t"/>
          <a:lstStyle/>
          <a:p>
            <a:pPr indent="0" marL="0">
              <a:buNone/>
            </a:pPr>
            <a:r>
              <a:rPr lang="en-US" sz="1300" dirty="0">
                <a:solidFill>
                  <a:schemeClr val="tx1"/>
                </a:solidFill>
              </a:rPr>
              <a:t>Lagos launch with Kcee, Flavour and Ric Hassani</a:t>
            </a:r>
            <a:endParaRPr lang="en-US" sz="1300" dirty="0"/>
          </a:p>
        </p:txBody>
      </p:sp>
      <p:sp>
        <p:nvSpPr>
          <p:cNvPr id="18" name="Fact card 4"/>
          <p:cNvSpPr/>
          <p:nvPr/>
        </p:nvSpPr>
        <p:spPr>
          <a:xfrm>
            <a:off x="3977640" y="3794760"/>
            <a:ext cx="3200400" cy="2011680"/>
          </a:xfrm>
          <a:prstGeom prst="roundRect">
            <a:avLst>
              <a:gd name="adj" fmla="val 7273"/>
            </a:avLst>
          </a:prstGeom>
          <a:solidFill>
            <a:schemeClr val="bg2"/>
          </a:solidFill>
          <a:ln/>
          <a:effectLst>
            <a:outerShdw sx="100000" sy="100000" kx="0" ky="0" algn="bl" rotWithShape="0" blurRad="127000" dist="38100" dir="5400000">
              <a:srgbClr val="4E176B">
                <a:alpha val="12000"/>
              </a:srgbClr>
            </a:outerShdw>
          </a:effectLst>
        </p:spPr>
      </p:sp>
      <p:sp>
        <p:nvSpPr>
          <p:cNvPr id="19" name="3 ambassadors circle"/>
          <p:cNvSpPr/>
          <p:nvPr/>
        </p:nvSpPr>
        <p:spPr>
          <a:xfrm>
            <a:off x="4251960" y="4069080"/>
            <a:ext cx="640080" cy="640080"/>
          </a:xfrm>
          <a:prstGeom prst="ellipse">
            <a:avLst/>
          </a:prstGeom>
          <a:solidFill>
            <a:schemeClr val="accent1"/>
          </a:solidFill>
          <a:ln/>
        </p:spPr>
      </p:sp>
      <p:pic>
        <p:nvPicPr>
          <p:cNvPr id="20" name="3 ambassadors icon" descr="3 ambassadors">    </p:cNvPr>
          <p:cNvPicPr>
            <a:picLocks noChangeAspect="1"/>
          </p:cNvPicPr>
          <p:nvPr/>
        </p:nvPicPr>
        <p:blipFill>
          <a:blip r:embed="rId4"/>
          <a:stretch>
            <a:fillRect/>
          </a:stretch>
        </p:blipFill>
        <p:spPr>
          <a:xfrm>
            <a:off x="4411980" y="4229100"/>
            <a:ext cx="320040" cy="320040"/>
          </a:xfrm>
          <a:prstGeom prst="rect">
            <a:avLst/>
          </a:prstGeom>
        </p:spPr>
      </p:pic>
      <p:sp>
        <p:nvSpPr>
          <p:cNvPr id="21" name="Text 15"/>
          <p:cNvSpPr txBox="1"/>
          <p:nvPr/>
        </p:nvSpPr>
        <p:spPr>
          <a:xfrm>
            <a:off x="4251960" y="4800600"/>
            <a:ext cx="2697480" cy="365760"/>
          </a:xfrm>
          <a:prstGeom prst="rect">
            <a:avLst/>
          </a:prstGeom>
          <a:noFill/>
          <a:ln/>
        </p:spPr>
        <p:txBody>
          <a:bodyPr wrap="square" lIns="0" tIns="0" rIns="0" bIns="0" rtlCol="0" anchor="ctr"/>
          <a:lstStyle/>
          <a:p>
            <a:pPr indent="0" marL="0">
              <a:buNone/>
            </a:pPr>
            <a:r>
              <a:rPr lang="en-US" sz="1700" b="1" dirty="0">
                <a:solidFill>
                  <a:schemeClr val="tx2"/>
                </a:solidFill>
              </a:rPr>
              <a:t>3 ambassadors</a:t>
            </a:r>
            <a:endParaRPr lang="en-US" sz="1700" dirty="0"/>
          </a:p>
        </p:txBody>
      </p:sp>
      <p:sp>
        <p:nvSpPr>
          <p:cNvPr id="22" name="Text 16"/>
          <p:cNvSpPr txBox="1"/>
          <p:nvPr/>
        </p:nvSpPr>
        <p:spPr>
          <a:xfrm>
            <a:off x="4251960" y="5166360"/>
            <a:ext cx="2697480" cy="566928"/>
          </a:xfrm>
          <a:prstGeom prst="rect">
            <a:avLst/>
          </a:prstGeom>
          <a:noFill/>
          <a:ln/>
        </p:spPr>
        <p:txBody>
          <a:bodyPr wrap="square" lIns="0" tIns="0" rIns="0" bIns="0" rtlCol="0" anchor="t"/>
          <a:lstStyle/>
          <a:p>
            <a:pPr indent="0" marL="0">
              <a:buNone/>
            </a:pPr>
            <a:r>
              <a:rPr lang="en-US" sz="1300" dirty="0">
                <a:solidFill>
                  <a:schemeClr val="tx1"/>
                </a:solidFill>
              </a:rPr>
              <a:t>Nini, BamBam and Montana since November 2024</a:t>
            </a:r>
            <a:endParaRPr lang="en-US" sz="1300" dirty="0"/>
          </a:p>
        </p:txBody>
      </p:sp>
      <p:sp>
        <p:nvSpPr>
          <p:cNvPr id="23" name="Implications card"/>
          <p:cNvSpPr/>
          <p:nvPr/>
        </p:nvSpPr>
        <p:spPr>
          <a:xfrm>
            <a:off x="7589520" y="1554480"/>
            <a:ext cx="4023360" cy="4251960"/>
          </a:xfrm>
          <a:prstGeom prst="roundRect">
            <a:avLst>
              <a:gd name="adj" fmla="val 3636"/>
            </a:avLst>
          </a:prstGeom>
          <a:solidFill>
            <a:schemeClr val="tx2"/>
          </a:solidFill>
          <a:ln/>
          <a:effectLst>
            <a:outerShdw sx="100000" sy="100000" kx="0" ky="0" algn="bl" rotWithShape="0" blurRad="127000" dist="38100" dir="5400000">
              <a:srgbClr val="4E176B">
                <a:alpha val="12000"/>
              </a:srgbClr>
            </a:outerShdw>
          </a:effectLst>
        </p:spPr>
      </p:sp>
      <p:sp>
        <p:nvSpPr>
          <p:cNvPr id="24" name="Text 18"/>
          <p:cNvSpPr txBox="1"/>
          <p:nvPr/>
        </p:nvSpPr>
        <p:spPr>
          <a:xfrm>
            <a:off x="7909560" y="1783080"/>
            <a:ext cx="3474720" cy="411480"/>
          </a:xfrm>
          <a:prstGeom prst="rect">
            <a:avLst/>
          </a:prstGeom>
          <a:noFill/>
          <a:ln/>
        </p:spPr>
        <p:txBody>
          <a:bodyPr wrap="square" lIns="0" tIns="0" rIns="0" bIns="0" rtlCol="0" anchor="ctr"/>
          <a:lstStyle/>
          <a:p>
            <a:pPr indent="0" marL="0">
              <a:buNone/>
            </a:pPr>
            <a:r>
              <a:rPr lang="en-US" sz="2000" dirty="0">
                <a:solidFill>
                  <a:schemeClr val="bg1"/>
                </a:solidFill>
                <a:latin typeface="Georgia" pitchFamily="34" charset="0"/>
                <a:ea typeface="Georgia" pitchFamily="34" charset="-122"/>
                <a:cs typeface="Georgia" pitchFamily="34" charset="-120"/>
              </a:rPr>
              <a:t>What this changes</a:t>
            </a:r>
            <a:endParaRPr lang="en-US" sz="2000" dirty="0"/>
          </a:p>
        </p:txBody>
      </p:sp>
      <p:sp>
        <p:nvSpPr>
          <p:cNvPr id="25" name="Text 19"/>
          <p:cNvSpPr txBox="1"/>
          <p:nvPr/>
        </p:nvSpPr>
        <p:spPr>
          <a:xfrm>
            <a:off x="7909560" y="2331720"/>
            <a:ext cx="3474720" cy="32918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bg1"/>
                </a:solidFill>
              </a:rPr>
              <a:t>No "Made in Nigeria" claim: win on certified quality and reliable stock</a:t>
            </a:r>
            <a:endParaRPr lang="en-US" sz="1400" dirty="0"/>
          </a:p>
          <a:p>
            <a:pPr marL="342900" indent="-342900">
              <a:spcAft>
                <a:spcPts val="900"/>
              </a:spcAft>
              <a:buSzPct val="100000"/>
              <a:buChar char="•"/>
            </a:pPr>
            <a:r>
              <a:rPr lang="en-US" sz="1400" dirty="0">
                <a:solidFill>
                  <a:schemeClr val="bg1"/>
                </a:solidFill>
              </a:rPr>
              <a:t>A weaker naira raises costs straight away</a:t>
            </a:r>
            <a:endParaRPr lang="en-US" sz="1400" dirty="0"/>
          </a:p>
          <a:p>
            <a:pPr marL="342900" indent="-342900">
              <a:spcAft>
                <a:spcPts val="900"/>
              </a:spcAft>
              <a:buSzPct val="100000"/>
              <a:buChar char="•"/>
            </a:pPr>
            <a:r>
              <a:rPr lang="en-US" sz="1400" dirty="0">
                <a:solidFill>
                  <a:schemeClr val="bg1"/>
                </a:solidFill>
              </a:rPr>
              <a:t>"Organic" needs proof in a market burned by fake organic creams</a:t>
            </a:r>
            <a:endParaRPr lang="en-US" sz="1400" dirty="0"/>
          </a:p>
          <a:p>
            <a:pPr marL="342900" indent="-342900">
              <a:spcAft>
                <a:spcPts val="900"/>
              </a:spcAft>
              <a:buSzPct val="100000"/>
              <a:buChar char="•"/>
            </a:pPr>
            <a:r>
              <a:rPr lang="en-US" sz="1400" dirty="0">
                <a:solidFill>
                  <a:schemeClr val="bg1"/>
                </a:solidFill>
              </a:rPr>
              <a:t>Micro creators already got people talking; now turn talk into repeat sales</a:t>
            </a:r>
            <a:endParaRPr lang="en-US" sz="1400" dirty="0"/>
          </a:p>
        </p:txBody>
      </p:sp>
      <p:sp>
        <p:nvSpPr>
          <p:cNvPr id="26" name="Source"/>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000" i="1" dirty="0">
                <a:solidFill>
                  <a:schemeClr val="tx2"/>
                </a:solidFill>
              </a:rPr>
              <a:t>Sources: Gulf News; Cosmo Cosmetics UAE; Observer Dubai; BrandSpur; ThisDay</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t"/>
          <a:lstStyle/>
          <a:p>
            <a:pPr algn="l" indent="0" marL="0">
              <a:buNone/>
            </a:pPr>
            <a:r>
              <a:rPr lang="en-US" sz="3200" dirty="0">
                <a:solidFill>
                  <a:schemeClr val="tx1"/>
                </a:solidFill>
              </a:rPr>
              <a:t>A big market, growing mostly through higher prices</a:t>
            </a:r>
            <a:endParaRPr lang="en-US" sz="3200" dirty="0"/>
          </a:p>
        </p:txBody>
      </p:sp>
      <p:sp>
        <p:nvSpPr>
          <p:cNvPr id="3" name="Market stat 1"/>
          <p:cNvSpPr txBox="1"/>
          <p:nvPr/>
        </p:nvSpPr>
        <p:spPr>
          <a:xfrm>
            <a:off x="548640" y="1554480"/>
            <a:ext cx="2606040" cy="868680"/>
          </a:xfrm>
          <a:prstGeom prst="rect">
            <a:avLst/>
          </a:prstGeom>
          <a:noFill/>
          <a:ln/>
        </p:spPr>
        <p:txBody>
          <a:bodyPr wrap="square" lIns="0" tIns="0" rIns="0" bIns="0" rtlCol="0" anchor="b"/>
          <a:lstStyle/>
          <a:p>
            <a:pPr indent="0" marL="0">
              <a:buNone/>
            </a:pPr>
            <a:r>
              <a:rPr lang="en-US" sz="4000" dirty="0">
                <a:solidFill>
                  <a:schemeClr val="accent1"/>
                </a:solidFill>
                <a:latin typeface="Georgia" pitchFamily="34" charset="0"/>
                <a:ea typeface="Georgia" pitchFamily="34" charset="-122"/>
                <a:cs typeface="Georgia" pitchFamily="34" charset="-120"/>
              </a:rPr>
              <a:t>+23%</a:t>
            </a:r>
            <a:endParaRPr lang="en-US" sz="4000" dirty="0"/>
          </a:p>
        </p:txBody>
      </p:sp>
      <p:sp>
        <p:nvSpPr>
          <p:cNvPr id="4" name="Text 2"/>
          <p:cNvSpPr txBox="1"/>
          <p:nvPr/>
        </p:nvSpPr>
        <p:spPr>
          <a:xfrm>
            <a:off x="548640" y="2514600"/>
            <a:ext cx="2560320" cy="868680"/>
          </a:xfrm>
          <a:prstGeom prst="rect">
            <a:avLst/>
          </a:prstGeom>
          <a:noFill/>
          <a:ln/>
        </p:spPr>
        <p:txBody>
          <a:bodyPr wrap="square" lIns="0" tIns="0" rIns="0" bIns="0" rtlCol="0" anchor="t"/>
          <a:lstStyle/>
          <a:p>
            <a:pPr indent="0" marL="0">
              <a:buNone/>
            </a:pPr>
            <a:r>
              <a:rPr lang="en-US" sz="1400" dirty="0">
                <a:solidFill>
                  <a:schemeClr val="tx1"/>
                </a:solidFill>
              </a:rPr>
              <a:t>naira sales growth in 2025, with inflation near 20%</a:t>
            </a:r>
            <a:endParaRPr lang="en-US" sz="1400" dirty="0"/>
          </a:p>
        </p:txBody>
      </p:sp>
      <p:sp>
        <p:nvSpPr>
          <p:cNvPr id="5" name="Text 3"/>
          <p:cNvSpPr txBox="1"/>
          <p:nvPr/>
        </p:nvSpPr>
        <p:spPr>
          <a:xfrm>
            <a:off x="548640" y="3383280"/>
            <a:ext cx="2560320" cy="274320"/>
          </a:xfrm>
          <a:prstGeom prst="rect">
            <a:avLst/>
          </a:prstGeom>
          <a:noFill/>
          <a:ln/>
        </p:spPr>
        <p:txBody>
          <a:bodyPr wrap="square" lIns="0" tIns="0" rIns="0" bIns="0" rtlCol="0" anchor="ctr"/>
          <a:lstStyle/>
          <a:p>
            <a:pPr indent="0" marL="0">
              <a:buNone/>
            </a:pPr>
            <a:r>
              <a:rPr lang="en-US" sz="1000" i="1" dirty="0">
                <a:solidFill>
                  <a:schemeClr val="tx2"/>
                </a:solidFill>
              </a:rPr>
              <a:t>Euromonitor</a:t>
            </a:r>
            <a:endParaRPr lang="en-US" sz="1000" dirty="0"/>
          </a:p>
        </p:txBody>
      </p:sp>
      <p:sp>
        <p:nvSpPr>
          <p:cNvPr id="6" name="Market stat 2"/>
          <p:cNvSpPr txBox="1"/>
          <p:nvPr/>
        </p:nvSpPr>
        <p:spPr>
          <a:xfrm>
            <a:off x="3364992" y="1554480"/>
            <a:ext cx="2606040" cy="868680"/>
          </a:xfrm>
          <a:prstGeom prst="rect">
            <a:avLst/>
          </a:prstGeom>
          <a:noFill/>
          <a:ln/>
        </p:spPr>
        <p:txBody>
          <a:bodyPr wrap="square" lIns="0" tIns="0" rIns="0" bIns="0" rtlCol="0" anchor="b"/>
          <a:lstStyle/>
          <a:p>
            <a:pPr indent="0" marL="0">
              <a:buNone/>
            </a:pPr>
            <a:r>
              <a:rPr lang="en-US" sz="4000" dirty="0">
                <a:solidFill>
                  <a:schemeClr val="accent1"/>
                </a:solidFill>
                <a:latin typeface="Georgia" pitchFamily="34" charset="0"/>
                <a:ea typeface="Georgia" pitchFamily="34" charset="-122"/>
                <a:cs typeface="Georgia" pitchFamily="34" charset="-120"/>
              </a:rPr>
              <a:t>$1.17bn</a:t>
            </a:r>
            <a:endParaRPr lang="en-US" sz="4000" dirty="0"/>
          </a:p>
        </p:txBody>
      </p:sp>
      <p:sp>
        <p:nvSpPr>
          <p:cNvPr id="7" name="Text 5"/>
          <p:cNvSpPr txBox="1"/>
          <p:nvPr/>
        </p:nvSpPr>
        <p:spPr>
          <a:xfrm>
            <a:off x="3364992" y="2514600"/>
            <a:ext cx="2560320" cy="868680"/>
          </a:xfrm>
          <a:prstGeom prst="rect">
            <a:avLst/>
          </a:prstGeom>
          <a:noFill/>
          <a:ln/>
        </p:spPr>
        <p:txBody>
          <a:bodyPr wrap="square" lIns="0" tIns="0" rIns="0" bIns="0" rtlCol="0" anchor="t"/>
          <a:lstStyle/>
          <a:p>
            <a:pPr indent="0" marL="0">
              <a:buNone/>
            </a:pPr>
            <a:r>
              <a:rPr lang="en-US" sz="1400" dirty="0">
                <a:solidFill>
                  <a:schemeClr val="tx1"/>
                </a:solidFill>
              </a:rPr>
              <a:t>formal market in 2025, rising to $2.08bn by 2032</a:t>
            </a:r>
            <a:endParaRPr lang="en-US" sz="1400" dirty="0"/>
          </a:p>
        </p:txBody>
      </p:sp>
      <p:sp>
        <p:nvSpPr>
          <p:cNvPr id="8" name="Text 6"/>
          <p:cNvSpPr txBox="1"/>
          <p:nvPr/>
        </p:nvSpPr>
        <p:spPr>
          <a:xfrm>
            <a:off x="3364992" y="3383280"/>
            <a:ext cx="2560320" cy="274320"/>
          </a:xfrm>
          <a:prstGeom prst="rect">
            <a:avLst/>
          </a:prstGeom>
          <a:noFill/>
          <a:ln/>
        </p:spPr>
        <p:txBody>
          <a:bodyPr wrap="square" lIns="0" tIns="0" rIns="0" bIns="0" rtlCol="0" anchor="ctr"/>
          <a:lstStyle/>
          <a:p>
            <a:pPr indent="0" marL="0">
              <a:buNone/>
            </a:pPr>
            <a:r>
              <a:rPr lang="en-US" sz="1000" i="1" dirty="0">
                <a:solidFill>
                  <a:schemeClr val="tx2"/>
                </a:solidFill>
              </a:rPr>
              <a:t>Markntel Advisors</a:t>
            </a:r>
            <a:endParaRPr lang="en-US" sz="1000" dirty="0"/>
          </a:p>
        </p:txBody>
      </p:sp>
      <p:sp>
        <p:nvSpPr>
          <p:cNvPr id="9" name="Market stat 3"/>
          <p:cNvSpPr txBox="1"/>
          <p:nvPr/>
        </p:nvSpPr>
        <p:spPr>
          <a:xfrm>
            <a:off x="6181344" y="1554480"/>
            <a:ext cx="2606040" cy="868680"/>
          </a:xfrm>
          <a:prstGeom prst="rect">
            <a:avLst/>
          </a:prstGeom>
          <a:noFill/>
          <a:ln/>
        </p:spPr>
        <p:txBody>
          <a:bodyPr wrap="square" lIns="0" tIns="0" rIns="0" bIns="0" rtlCol="0" anchor="b"/>
          <a:lstStyle/>
          <a:p>
            <a:pPr indent="0" marL="0">
              <a:buNone/>
            </a:pPr>
            <a:r>
              <a:rPr lang="en-US" sz="4000" dirty="0">
                <a:solidFill>
                  <a:schemeClr val="accent1"/>
                </a:solidFill>
                <a:latin typeface="Georgia" pitchFamily="34" charset="0"/>
                <a:ea typeface="Georgia" pitchFamily="34" charset="-122"/>
                <a:cs typeface="Georgia" pitchFamily="34" charset="-120"/>
              </a:rPr>
              <a:t>$10.17bn</a:t>
            </a:r>
            <a:endParaRPr lang="en-US" sz="4000" dirty="0"/>
          </a:p>
        </p:txBody>
      </p:sp>
      <p:sp>
        <p:nvSpPr>
          <p:cNvPr id="10" name="Text 8"/>
          <p:cNvSpPr txBox="1"/>
          <p:nvPr/>
        </p:nvSpPr>
        <p:spPr>
          <a:xfrm>
            <a:off x="6181344" y="2514600"/>
            <a:ext cx="2560320" cy="868680"/>
          </a:xfrm>
          <a:prstGeom prst="rect">
            <a:avLst/>
          </a:prstGeom>
          <a:noFill/>
          <a:ln/>
        </p:spPr>
        <p:txBody>
          <a:bodyPr wrap="square" lIns="0" tIns="0" rIns="0" bIns="0" rtlCol="0" anchor="t"/>
          <a:lstStyle/>
          <a:p>
            <a:pPr indent="0" marL="0">
              <a:buNone/>
            </a:pPr>
            <a:r>
              <a:rPr lang="en-US" sz="1400" dirty="0">
                <a:solidFill>
                  <a:schemeClr val="tx1"/>
                </a:solidFill>
              </a:rPr>
              <a:t>whole market in 2025, counting open markets and informal sellers</a:t>
            </a:r>
            <a:endParaRPr lang="en-US" sz="1400" dirty="0"/>
          </a:p>
        </p:txBody>
      </p:sp>
      <p:sp>
        <p:nvSpPr>
          <p:cNvPr id="11" name="Text 9"/>
          <p:cNvSpPr txBox="1"/>
          <p:nvPr/>
        </p:nvSpPr>
        <p:spPr>
          <a:xfrm>
            <a:off x="6181344" y="3383280"/>
            <a:ext cx="2560320" cy="274320"/>
          </a:xfrm>
          <a:prstGeom prst="rect">
            <a:avLst/>
          </a:prstGeom>
          <a:noFill/>
          <a:ln/>
        </p:spPr>
        <p:txBody>
          <a:bodyPr wrap="square" lIns="0" tIns="0" rIns="0" bIns="0" rtlCol="0" anchor="ctr"/>
          <a:lstStyle/>
          <a:p>
            <a:pPr indent="0" marL="0">
              <a:buNone/>
            </a:pPr>
            <a:r>
              <a:rPr lang="en-US" sz="1000" i="1" dirty="0">
                <a:solidFill>
                  <a:schemeClr val="tx2"/>
                </a:solidFill>
              </a:rPr>
              <a:t>Beauty West Africa</a:t>
            </a:r>
            <a:endParaRPr lang="en-US" sz="1000" dirty="0"/>
          </a:p>
        </p:txBody>
      </p:sp>
      <p:sp>
        <p:nvSpPr>
          <p:cNvPr id="12" name="Market stat 4"/>
          <p:cNvSpPr txBox="1"/>
          <p:nvPr/>
        </p:nvSpPr>
        <p:spPr>
          <a:xfrm>
            <a:off x="8997696" y="1554480"/>
            <a:ext cx="2606040" cy="868680"/>
          </a:xfrm>
          <a:prstGeom prst="rect">
            <a:avLst/>
          </a:prstGeom>
          <a:noFill/>
          <a:ln/>
        </p:spPr>
        <p:txBody>
          <a:bodyPr wrap="square" lIns="0" tIns="0" rIns="0" bIns="0" rtlCol="0" anchor="b"/>
          <a:lstStyle/>
          <a:p>
            <a:pPr indent="0" marL="0">
              <a:buNone/>
            </a:pPr>
            <a:r>
              <a:rPr lang="en-US" sz="4000" dirty="0">
                <a:solidFill>
                  <a:schemeClr val="accent1"/>
                </a:solidFill>
                <a:latin typeface="Georgia" pitchFamily="34" charset="0"/>
                <a:ea typeface="Georgia" pitchFamily="34" charset="-122"/>
                <a:cs typeface="Georgia" pitchFamily="34" charset="-120"/>
              </a:rPr>
              <a:t>14.63%</a:t>
            </a:r>
            <a:endParaRPr lang="en-US" sz="4000" dirty="0"/>
          </a:p>
        </p:txBody>
      </p:sp>
      <p:sp>
        <p:nvSpPr>
          <p:cNvPr id="13" name="Text 11"/>
          <p:cNvSpPr txBox="1"/>
          <p:nvPr/>
        </p:nvSpPr>
        <p:spPr>
          <a:xfrm>
            <a:off x="8997696" y="2514600"/>
            <a:ext cx="2560320" cy="868680"/>
          </a:xfrm>
          <a:prstGeom prst="rect">
            <a:avLst/>
          </a:prstGeom>
          <a:noFill/>
          <a:ln/>
        </p:spPr>
        <p:txBody>
          <a:bodyPr wrap="square" lIns="0" tIns="0" rIns="0" bIns="0" rtlCol="0" anchor="t"/>
          <a:lstStyle/>
          <a:p>
            <a:pPr indent="0" marL="0">
              <a:buNone/>
            </a:pPr>
            <a:r>
              <a:rPr lang="en-US" sz="1400" dirty="0">
                <a:solidFill>
                  <a:schemeClr val="tx1"/>
                </a:solidFill>
              </a:rPr>
              <a:t>inflation in Sept 2026, down from 20.98% a year earlier</a:t>
            </a:r>
            <a:endParaRPr lang="en-US" sz="1400" dirty="0"/>
          </a:p>
        </p:txBody>
      </p:sp>
      <p:sp>
        <p:nvSpPr>
          <p:cNvPr id="14" name="Text 12"/>
          <p:cNvSpPr txBox="1"/>
          <p:nvPr/>
        </p:nvSpPr>
        <p:spPr>
          <a:xfrm>
            <a:off x="8997696" y="3383280"/>
            <a:ext cx="2560320" cy="274320"/>
          </a:xfrm>
          <a:prstGeom prst="rect">
            <a:avLst/>
          </a:prstGeom>
          <a:noFill/>
          <a:ln/>
        </p:spPr>
        <p:txBody>
          <a:bodyPr wrap="square" lIns="0" tIns="0" rIns="0" bIns="0" rtlCol="0" anchor="ctr"/>
          <a:lstStyle/>
          <a:p>
            <a:pPr indent="0" marL="0">
              <a:buNone/>
            </a:pPr>
            <a:r>
              <a:rPr lang="en-US" sz="1000" i="1" dirty="0">
                <a:solidFill>
                  <a:schemeClr val="tx2"/>
                </a:solidFill>
              </a:rPr>
              <a:t>NBS, via Nairametrics</a:t>
            </a:r>
            <a:endParaRPr lang="en-US" sz="1000" dirty="0"/>
          </a:p>
        </p:txBody>
      </p:sp>
      <p:sp>
        <p:nvSpPr>
          <p:cNvPr id="15" name="Implication 1"/>
          <p:cNvSpPr/>
          <p:nvPr/>
        </p:nvSpPr>
        <p:spPr>
          <a:xfrm>
            <a:off x="548640" y="3977640"/>
            <a:ext cx="3520440" cy="1783080"/>
          </a:xfrm>
          <a:prstGeom prst="roundRect">
            <a:avLst>
              <a:gd name="adj" fmla="val 8205"/>
            </a:avLst>
          </a:prstGeom>
          <a:solidFill>
            <a:schemeClr val="accent4"/>
          </a:solidFill>
          <a:ln/>
          <a:effectLst>
            <a:outerShdw sx="100000" sy="100000" kx="0" ky="0" algn="bl" rotWithShape="0" blurRad="127000" dist="38100" dir="5400000">
              <a:srgbClr val="4E176B">
                <a:alpha val="12000"/>
              </a:srgbClr>
            </a:outerShdw>
          </a:effectLst>
        </p:spPr>
      </p:sp>
      <p:sp>
        <p:nvSpPr>
          <p:cNvPr id="16" name="Text 14"/>
          <p:cNvSpPr txBox="1"/>
          <p:nvPr/>
        </p:nvSpPr>
        <p:spPr>
          <a:xfrm>
            <a:off x="822960" y="4160520"/>
            <a:ext cx="3017520" cy="685800"/>
          </a:xfrm>
          <a:prstGeom prst="rect">
            <a:avLst/>
          </a:prstGeom>
          <a:noFill/>
          <a:ln/>
        </p:spPr>
        <p:txBody>
          <a:bodyPr wrap="square" lIns="0" tIns="0" rIns="0" bIns="0" rtlCol="0" anchor="t"/>
          <a:lstStyle/>
          <a:p>
            <a:pPr indent="0" marL="0">
              <a:buNone/>
            </a:pPr>
            <a:r>
              <a:rPr lang="en-US" sz="1600" b="1" dirty="0">
                <a:solidFill>
                  <a:schemeClr val="tx2"/>
                </a:solidFill>
              </a:rPr>
              <a:t>Growth must come from loyalty and share</a:t>
            </a:r>
            <a:endParaRPr lang="en-US" sz="1600" dirty="0"/>
          </a:p>
        </p:txBody>
      </p:sp>
      <p:sp>
        <p:nvSpPr>
          <p:cNvPr id="17" name="Text 15"/>
          <p:cNvSpPr txBox="1"/>
          <p:nvPr/>
        </p:nvSpPr>
        <p:spPr>
          <a:xfrm>
            <a:off x="822960" y="4892040"/>
            <a:ext cx="3017520" cy="685800"/>
          </a:xfrm>
          <a:prstGeom prst="rect">
            <a:avLst/>
          </a:prstGeom>
          <a:noFill/>
          <a:ln/>
        </p:spPr>
        <p:txBody>
          <a:bodyPr wrap="square" lIns="0" tIns="0" rIns="0" bIns="0" rtlCol="0" anchor="t"/>
          <a:lstStyle/>
          <a:p>
            <a:pPr indent="0" marL="0">
              <a:buNone/>
            </a:pPr>
            <a:r>
              <a:rPr lang="en-US" sz="1400" dirty="0">
                <a:solidFill>
                  <a:schemeClr val="tx1"/>
                </a:solidFill>
              </a:rPr>
              <a:t>Real volumes are flat; the market won't carry us.</a:t>
            </a:r>
            <a:endParaRPr lang="en-US" sz="1400" dirty="0"/>
          </a:p>
        </p:txBody>
      </p:sp>
      <p:sp>
        <p:nvSpPr>
          <p:cNvPr id="18" name="Implication 2"/>
          <p:cNvSpPr/>
          <p:nvPr/>
        </p:nvSpPr>
        <p:spPr>
          <a:xfrm>
            <a:off x="4297680" y="3977640"/>
            <a:ext cx="3520440" cy="1783080"/>
          </a:xfrm>
          <a:prstGeom prst="roundRect">
            <a:avLst>
              <a:gd name="adj" fmla="val 8205"/>
            </a:avLst>
          </a:prstGeom>
          <a:solidFill>
            <a:schemeClr val="accent4"/>
          </a:solidFill>
          <a:ln/>
          <a:effectLst>
            <a:outerShdw sx="100000" sy="100000" kx="0" ky="0" algn="bl" rotWithShape="0" blurRad="127000" dist="38100" dir="5400000">
              <a:srgbClr val="4E176B">
                <a:alpha val="12000"/>
              </a:srgbClr>
            </a:outerShdw>
          </a:effectLst>
        </p:spPr>
      </p:sp>
      <p:sp>
        <p:nvSpPr>
          <p:cNvPr id="19" name="Text 17"/>
          <p:cNvSpPr txBox="1"/>
          <p:nvPr/>
        </p:nvSpPr>
        <p:spPr>
          <a:xfrm>
            <a:off x="4572000" y="4160520"/>
            <a:ext cx="3017520" cy="685800"/>
          </a:xfrm>
          <a:prstGeom prst="rect">
            <a:avLst/>
          </a:prstGeom>
          <a:noFill/>
          <a:ln/>
        </p:spPr>
        <p:txBody>
          <a:bodyPr wrap="square" lIns="0" tIns="0" rIns="0" bIns="0" rtlCol="0" anchor="t"/>
          <a:lstStyle/>
          <a:p>
            <a:pPr indent="0" marL="0">
              <a:buNone/>
            </a:pPr>
            <a:r>
              <a:rPr lang="en-US" sz="1600" b="1" dirty="0">
                <a:solidFill>
                  <a:schemeClr val="tx2"/>
                </a:solidFill>
              </a:rPr>
              <a:t>Most spending happens outside formal shops</a:t>
            </a:r>
            <a:endParaRPr lang="en-US" sz="1600" dirty="0"/>
          </a:p>
        </p:txBody>
      </p:sp>
      <p:sp>
        <p:nvSpPr>
          <p:cNvPr id="20" name="Text 18"/>
          <p:cNvSpPr txBox="1"/>
          <p:nvPr/>
        </p:nvSpPr>
        <p:spPr>
          <a:xfrm>
            <a:off x="4572000" y="4892040"/>
            <a:ext cx="3017520" cy="685800"/>
          </a:xfrm>
          <a:prstGeom prst="rect">
            <a:avLst/>
          </a:prstGeom>
          <a:noFill/>
          <a:ln/>
        </p:spPr>
        <p:txBody>
          <a:bodyPr wrap="square" lIns="0" tIns="0" rIns="0" bIns="0" rtlCol="0" anchor="t"/>
          <a:lstStyle/>
          <a:p>
            <a:pPr indent="0" marL="0">
              <a:buNone/>
            </a:pPr>
            <a:r>
              <a:rPr lang="en-US" sz="1400" dirty="0">
                <a:solidFill>
                  <a:schemeClr val="tx1"/>
                </a:solidFill>
              </a:rPr>
              <a:t>Reach resellers, salons and WhatsApp sellers.</a:t>
            </a:r>
            <a:endParaRPr lang="en-US" sz="1400" dirty="0"/>
          </a:p>
        </p:txBody>
      </p:sp>
      <p:sp>
        <p:nvSpPr>
          <p:cNvPr id="21" name="Implication 3"/>
          <p:cNvSpPr/>
          <p:nvPr/>
        </p:nvSpPr>
        <p:spPr>
          <a:xfrm>
            <a:off x="8046720" y="3977640"/>
            <a:ext cx="3520440" cy="1783080"/>
          </a:xfrm>
          <a:prstGeom prst="roundRect">
            <a:avLst>
              <a:gd name="adj" fmla="val 8205"/>
            </a:avLst>
          </a:prstGeom>
          <a:solidFill>
            <a:schemeClr val="accent4"/>
          </a:solidFill>
          <a:ln/>
          <a:effectLst>
            <a:outerShdw sx="100000" sy="100000" kx="0" ky="0" algn="bl" rotWithShape="0" blurRad="127000" dist="38100" dir="5400000">
              <a:srgbClr val="4E176B">
                <a:alpha val="12000"/>
              </a:srgbClr>
            </a:outerShdw>
          </a:effectLst>
        </p:spPr>
      </p:sp>
      <p:sp>
        <p:nvSpPr>
          <p:cNvPr id="22" name="Text 20"/>
          <p:cNvSpPr txBox="1"/>
          <p:nvPr/>
        </p:nvSpPr>
        <p:spPr>
          <a:xfrm>
            <a:off x="8321040" y="4160520"/>
            <a:ext cx="3017520" cy="685800"/>
          </a:xfrm>
          <a:prstGeom prst="rect">
            <a:avLst/>
          </a:prstGeom>
          <a:noFill/>
          <a:ln/>
        </p:spPr>
        <p:txBody>
          <a:bodyPr wrap="square" lIns="0" tIns="0" rIns="0" bIns="0" rtlCol="0" anchor="t"/>
          <a:lstStyle/>
          <a:p>
            <a:pPr indent="0" marL="0">
              <a:buNone/>
            </a:pPr>
            <a:r>
              <a:rPr lang="en-US" sz="1600" b="1" dirty="0">
                <a:solidFill>
                  <a:schemeClr val="tx2"/>
                </a:solidFill>
              </a:rPr>
              <a:t>2026–27 is a window</a:t>
            </a:r>
            <a:endParaRPr lang="en-US" sz="1600" dirty="0"/>
          </a:p>
        </p:txBody>
      </p:sp>
      <p:sp>
        <p:nvSpPr>
          <p:cNvPr id="23" name="Text 21"/>
          <p:cNvSpPr txBox="1"/>
          <p:nvPr/>
        </p:nvSpPr>
        <p:spPr>
          <a:xfrm>
            <a:off x="8321040" y="4892040"/>
            <a:ext cx="3017520" cy="685800"/>
          </a:xfrm>
          <a:prstGeom prst="rect">
            <a:avLst/>
          </a:prstGeom>
          <a:noFill/>
          <a:ln/>
        </p:spPr>
        <p:txBody>
          <a:bodyPr wrap="square" lIns="0" tIns="0" rIns="0" bIns="0" rtlCol="0" anchor="t"/>
          <a:lstStyle/>
          <a:p>
            <a:pPr indent="0" marL="0">
              <a:buNone/>
            </a:pPr>
            <a:r>
              <a:rPr lang="en-US" sz="1400" dirty="0">
                <a:solidFill>
                  <a:schemeClr val="tx1"/>
                </a:solidFill>
              </a:rPr>
              <a:t>Spending power is recovering as inflation eases.</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t"/>
          <a:lstStyle/>
          <a:p>
            <a:pPr algn="l" indent="0" marL="0">
              <a:buNone/>
            </a:pPr>
            <a:r>
              <a:rPr lang="en-US" sz="3200" dirty="0">
                <a:solidFill>
                  <a:schemeClr val="tx1"/>
                </a:solidFill>
              </a:rPr>
              <a:t>Big brands retreat; local brands win on closeness</a:t>
            </a:r>
            <a:endParaRPr lang="en-US" sz="3200" dirty="0"/>
          </a:p>
        </p:txBody>
      </p:sp>
      <p:graphicFrame>
        <p:nvGraphicFramePr>
          <p:cNvPr id="6" name="Competitor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377440"/>
                <a:gridCol w="4572000"/>
                <a:gridCol w="4114800"/>
              </a:tblGrid>
              <a:tr h="566928">
                <a:tc>
                  <a:txBody>
                    <a:bodyPr/>
                    <a:lstStyle/>
                    <a:p>
                      <a:pPr indent="0" marL="0">
                        <a:buNone/>
                      </a:pPr>
                      <a:r>
                        <a:rPr lang="en-US" sz="1400" b="1" dirty="0">
                          <a:solidFill>
                            <a:schemeClr val="bg1"/>
                          </a:solidFill>
                        </a:rPr>
                        <a:t>Player</a:t>
                      </a:r>
                      <a:endParaRPr lang="en-US" sz="14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they are doing</a:t>
                      </a:r>
                      <a:endParaRPr lang="en-US" sz="14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Lesson for Cosmo</a:t>
                      </a:r>
                      <a:endParaRPr lang="en-US" sz="14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accent1"/>
                    </a:solidFill>
                  </a:tcPr>
                </a:tc>
              </a:tr>
              <a:tr h="566928">
                <a:tc>
                  <a:txBody>
                    <a:bodyPr/>
                    <a:lstStyle/>
                    <a:p>
                      <a:pPr indent="0" marL="0">
                        <a:buNone/>
                      </a:pPr>
                      <a:r>
                        <a:rPr lang="en-US" sz="1300" b="1" dirty="0">
                          <a:solidFill>
                            <a:schemeClr val="tx2"/>
                          </a:solidFill>
                        </a:rPr>
                        <a:t>NIVEA</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₦3bn promotion to April 2026; 2m+ winners through codes on packs</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Proof-of-purchase codes make loyalty measurable</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2"/>
                          </a:solidFill>
                        </a:rPr>
                        <a:t>PZ Cussons</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Profit up 349%, helped by selling non-core assets</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Avoid the mass soap and lotion price fight</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2"/>
                          </a:solidFill>
                        </a:rPr>
                        <a:t>Unilever, P&amp;G, GSK</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Stopped making goods locally or went import-only</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Shoppers are switching; reliable stock wins</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2"/>
                          </a:solidFill>
                        </a:rPr>
                        <a:t>Zaron</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Wide pharmacy reach makes it a first skin care buy</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Be on the shelves people already visit</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2"/>
                          </a:solidFill>
                        </a:rPr>
                        <a:t>Arami, House of Coco</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One hero product, or one skin problem owned</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Give people one clear reason to recommend us</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2"/>
                          </a:solidFill>
                        </a:rPr>
                        <a:t>Counterfeiters</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Over ₦3bn of fakes found in one Lagos warehouse, Feb 2026</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Proving authenticity is a selling point</a:t>
                      </a:r>
                      <a:endParaRPr lang="en-US" sz="1300" dirty="0"/>
                    </a:p>
                  </a:txBody>
                  <a:tcPr marL="137160" marR="137160" marT="54864" marB="54864"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r>
            </a:tbl>
          </a:graphicData>
        </a:graphic>
      </p:graphicFrame>
      <p:sp>
        <p:nvSpPr>
          <p:cNvPr id="4" name="Source"/>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000" i="1" dirty="0">
                <a:solidFill>
                  <a:schemeClr val="tx2"/>
                </a:solidFill>
              </a:rPr>
              <a:t>Sources: BusinessDay; Nairametrics; ThisDay; Oyster Skin</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t"/>
          <a:lstStyle/>
          <a:p>
            <a:pPr algn="l" indent="0" marL="0">
              <a:buNone/>
            </a:pPr>
            <a:r>
              <a:rPr lang="en-US" sz="3200" dirty="0">
                <a:solidFill>
                  <a:schemeClr val="tx1"/>
                </a:solidFill>
              </a:rPr>
              <a:t>What buyers are saying, and how Cosmo answers</a:t>
            </a:r>
            <a:endParaRPr lang="en-US" sz="3200" dirty="0"/>
          </a:p>
        </p:txBody>
      </p:sp>
      <p:sp>
        <p:nvSpPr>
          <p:cNvPr id="3" name="Voice card 1"/>
          <p:cNvSpPr/>
          <p:nvPr/>
        </p:nvSpPr>
        <p:spPr>
          <a:xfrm>
            <a:off x="548640" y="1508760"/>
            <a:ext cx="5440680" cy="2057400"/>
          </a:xfrm>
          <a:prstGeom prst="roundRect">
            <a:avLst>
              <a:gd name="adj" fmla="val 7111"/>
            </a:avLst>
          </a:prstGeom>
          <a:solidFill>
            <a:schemeClr val="bg1"/>
          </a:solidFill>
          <a:ln/>
          <a:effectLst>
            <a:outerShdw sx="100000" sy="100000" kx="0" ky="0" algn="bl" rotWithShape="0" blurRad="127000" dist="38100" dir="5400000">
              <a:srgbClr val="4E176B">
                <a:alpha val="12000"/>
              </a:srgbClr>
            </a:outerShdw>
          </a:effectLst>
        </p:spPr>
      </p:sp>
      <p:pic>
        <p:nvPicPr>
          <p:cNvPr id="4" name="Image 0" descr="Quote mark">    </p:cNvPr>
          <p:cNvPicPr>
            <a:picLocks noChangeAspect="1"/>
          </p:cNvPicPr>
          <p:nvPr/>
        </p:nvPicPr>
        <p:blipFill>
          <a:blip r:embed="rId1"/>
          <a:stretch>
            <a:fillRect/>
          </a:stretch>
        </p:blipFill>
        <p:spPr>
          <a:xfrm>
            <a:off x="822960" y="1783080"/>
            <a:ext cx="320040" cy="320040"/>
          </a:xfrm>
          <a:prstGeom prst="rect">
            <a:avLst/>
          </a:prstGeom>
        </p:spPr>
      </p:pic>
      <p:sp>
        <p:nvSpPr>
          <p:cNvPr id="5" name="Text 2"/>
          <p:cNvSpPr txBox="1"/>
          <p:nvPr/>
        </p:nvSpPr>
        <p:spPr>
          <a:xfrm>
            <a:off x="1280160" y="1709928"/>
            <a:ext cx="4480560" cy="502920"/>
          </a:xfrm>
          <a:prstGeom prst="rect">
            <a:avLst/>
          </a:prstGeom>
          <a:noFill/>
          <a:ln/>
        </p:spPr>
        <p:txBody>
          <a:bodyPr wrap="square" lIns="0" tIns="0" rIns="0" bIns="0" rtlCol="0" anchor="ctr"/>
          <a:lstStyle/>
          <a:p>
            <a:pPr indent="0" marL="0">
              <a:buNone/>
            </a:pPr>
            <a:r>
              <a:rPr lang="en-US" sz="2000" i="1" dirty="0">
                <a:solidFill>
                  <a:schemeClr val="tx2"/>
                </a:solidFill>
                <a:latin typeface="Georgia" pitchFamily="34" charset="0"/>
                <a:ea typeface="Georgia" pitchFamily="34" charset="-122"/>
                <a:cs typeface="Georgia" pitchFamily="34" charset="-120"/>
              </a:rPr>
              <a:t>“Is this original?”</a:t>
            </a:r>
            <a:endParaRPr lang="en-US" sz="2000" dirty="0"/>
          </a:p>
        </p:txBody>
      </p:sp>
      <p:sp>
        <p:nvSpPr>
          <p:cNvPr id="6" name="Text 3"/>
          <p:cNvSpPr txBox="1"/>
          <p:nvPr/>
        </p:nvSpPr>
        <p:spPr>
          <a:xfrm>
            <a:off x="1280160" y="2286000"/>
            <a:ext cx="4480560" cy="594360"/>
          </a:xfrm>
          <a:prstGeom prst="rect">
            <a:avLst/>
          </a:prstGeom>
          <a:noFill/>
          <a:ln/>
        </p:spPr>
        <p:txBody>
          <a:bodyPr wrap="square" lIns="0" tIns="0" rIns="0" bIns="0" rtlCol="0" anchor="t"/>
          <a:lstStyle/>
          <a:p>
            <a:pPr indent="0" marL="0">
              <a:buNone/>
            </a:pPr>
            <a:r>
              <a:rPr lang="en-US" sz="1300" dirty="0">
                <a:solidFill>
                  <a:schemeClr val="tx1"/>
                </a:solidFill>
              </a:rPr>
              <a:t>Bioré says it isn't sold in Nigeria; Vaseline launched a WhatsApp authenticator in April 2026</a:t>
            </a:r>
            <a:endParaRPr lang="en-US" sz="1300" dirty="0"/>
          </a:p>
        </p:txBody>
      </p:sp>
      <p:sp>
        <p:nvSpPr>
          <p:cNvPr id="7" name="Answer 1"/>
          <p:cNvSpPr txBox="1"/>
          <p:nvPr/>
        </p:nvSpPr>
        <p:spPr>
          <a:xfrm>
            <a:off x="1280160" y="2971800"/>
            <a:ext cx="4480560"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A code in every pack, checked on WhatsApp</a:t>
            </a:r>
            <a:endParaRPr lang="en-US" sz="1300" dirty="0"/>
          </a:p>
        </p:txBody>
      </p:sp>
      <p:sp>
        <p:nvSpPr>
          <p:cNvPr id="8" name="Voice card 2"/>
          <p:cNvSpPr/>
          <p:nvPr/>
        </p:nvSpPr>
        <p:spPr>
          <a:xfrm>
            <a:off x="6172200" y="1508760"/>
            <a:ext cx="5440680" cy="2057400"/>
          </a:xfrm>
          <a:prstGeom prst="roundRect">
            <a:avLst>
              <a:gd name="adj" fmla="val 7111"/>
            </a:avLst>
          </a:prstGeom>
          <a:solidFill>
            <a:schemeClr val="bg1"/>
          </a:solidFill>
          <a:ln/>
          <a:effectLst>
            <a:outerShdw sx="100000" sy="100000" kx="0" ky="0" algn="bl" rotWithShape="0" blurRad="127000" dist="38100" dir="5400000">
              <a:srgbClr val="4E176B">
                <a:alpha val="12000"/>
              </a:srgbClr>
            </a:outerShdw>
          </a:effectLst>
        </p:spPr>
      </p:sp>
      <p:pic>
        <p:nvPicPr>
          <p:cNvPr id="9" name="Image 1" descr="Quote mark">    </p:cNvPr>
          <p:cNvPicPr>
            <a:picLocks noChangeAspect="1"/>
          </p:cNvPicPr>
          <p:nvPr/>
        </p:nvPicPr>
        <p:blipFill>
          <a:blip r:embed="rId2"/>
          <a:stretch>
            <a:fillRect/>
          </a:stretch>
        </p:blipFill>
        <p:spPr>
          <a:xfrm>
            <a:off x="6446520" y="1783080"/>
            <a:ext cx="320040" cy="320040"/>
          </a:xfrm>
          <a:prstGeom prst="rect">
            <a:avLst/>
          </a:prstGeom>
        </p:spPr>
      </p:pic>
      <p:sp>
        <p:nvSpPr>
          <p:cNvPr id="10" name="Text 6"/>
          <p:cNvSpPr txBox="1"/>
          <p:nvPr/>
        </p:nvSpPr>
        <p:spPr>
          <a:xfrm>
            <a:off x="6903720" y="1709928"/>
            <a:ext cx="4480560" cy="502920"/>
          </a:xfrm>
          <a:prstGeom prst="rect">
            <a:avLst/>
          </a:prstGeom>
          <a:noFill/>
          <a:ln/>
        </p:spPr>
        <p:txBody>
          <a:bodyPr wrap="square" lIns="0" tIns="0" rIns="0" bIns="0" rtlCol="0" anchor="ctr"/>
          <a:lstStyle/>
          <a:p>
            <a:pPr indent="0" marL="0">
              <a:buNone/>
            </a:pPr>
            <a:r>
              <a:rPr lang="en-US" sz="2000" i="1" dirty="0">
                <a:solidFill>
                  <a:schemeClr val="tx2"/>
                </a:solidFill>
                <a:latin typeface="Georgia" pitchFamily="34" charset="0"/>
                <a:ea typeface="Georgia" pitchFamily="34" charset="-122"/>
                <a:cs typeface="Georgia" pitchFamily="34" charset="-120"/>
              </a:rPr>
              <a:t>“Organic labels can't be trusted”</a:t>
            </a:r>
            <a:endParaRPr lang="en-US" sz="2000" dirty="0"/>
          </a:p>
        </p:txBody>
      </p:sp>
      <p:sp>
        <p:nvSpPr>
          <p:cNvPr id="11" name="Text 7"/>
          <p:cNvSpPr txBox="1"/>
          <p:nvPr/>
        </p:nvSpPr>
        <p:spPr>
          <a:xfrm>
            <a:off x="6903720" y="2286000"/>
            <a:ext cx="4480560" cy="594360"/>
          </a:xfrm>
          <a:prstGeom prst="rect">
            <a:avLst/>
          </a:prstGeom>
          <a:noFill/>
          <a:ln/>
        </p:spPr>
        <p:txBody>
          <a:bodyPr wrap="square" lIns="0" tIns="0" rIns="0" bIns="0" rtlCol="0" anchor="t"/>
          <a:lstStyle/>
          <a:p>
            <a:pPr indent="0" marL="0">
              <a:buNone/>
            </a:pPr>
            <a:r>
              <a:rPr lang="en-US" sz="1300" dirty="0">
                <a:solidFill>
                  <a:schemeClr val="tx1"/>
                </a:solidFill>
              </a:rPr>
              <a:t>NAFDAC sealed a maker selling “organic” creams with banned bleaching agents</a:t>
            </a:r>
            <a:endParaRPr lang="en-US" sz="1300" dirty="0"/>
          </a:p>
        </p:txBody>
      </p:sp>
      <p:sp>
        <p:nvSpPr>
          <p:cNvPr id="12" name="Answer 2"/>
          <p:cNvSpPr txBox="1"/>
          <p:nvPr/>
        </p:nvSpPr>
        <p:spPr>
          <a:xfrm>
            <a:off x="6903720" y="2971800"/>
            <a:ext cx="4480560"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Show certificates, ingredients and NAFDAC numbers</a:t>
            </a:r>
            <a:endParaRPr lang="en-US" sz="1300" dirty="0"/>
          </a:p>
        </p:txBody>
      </p:sp>
      <p:sp>
        <p:nvSpPr>
          <p:cNvPr id="13" name="Voice card 3"/>
          <p:cNvSpPr/>
          <p:nvPr/>
        </p:nvSpPr>
        <p:spPr>
          <a:xfrm>
            <a:off x="548640" y="3794760"/>
            <a:ext cx="5440680" cy="2057400"/>
          </a:xfrm>
          <a:prstGeom prst="roundRect">
            <a:avLst>
              <a:gd name="adj" fmla="val 7111"/>
            </a:avLst>
          </a:prstGeom>
          <a:solidFill>
            <a:schemeClr val="bg1"/>
          </a:solidFill>
          <a:ln/>
          <a:effectLst>
            <a:outerShdw sx="100000" sy="100000" kx="0" ky="0" algn="bl" rotWithShape="0" blurRad="127000" dist="38100" dir="5400000">
              <a:srgbClr val="4E176B">
                <a:alpha val="12000"/>
              </a:srgbClr>
            </a:outerShdw>
          </a:effectLst>
        </p:spPr>
      </p:sp>
      <p:pic>
        <p:nvPicPr>
          <p:cNvPr id="14" name="Image 2" descr="Quote mark">    </p:cNvPr>
          <p:cNvPicPr>
            <a:picLocks noChangeAspect="1"/>
          </p:cNvPicPr>
          <p:nvPr/>
        </p:nvPicPr>
        <p:blipFill>
          <a:blip r:embed="rId3"/>
          <a:stretch>
            <a:fillRect/>
          </a:stretch>
        </p:blipFill>
        <p:spPr>
          <a:xfrm>
            <a:off x="822960" y="4069080"/>
            <a:ext cx="320040" cy="320040"/>
          </a:xfrm>
          <a:prstGeom prst="rect">
            <a:avLst/>
          </a:prstGeom>
        </p:spPr>
      </p:pic>
      <p:sp>
        <p:nvSpPr>
          <p:cNvPr id="15" name="Text 10"/>
          <p:cNvSpPr txBox="1"/>
          <p:nvPr/>
        </p:nvSpPr>
        <p:spPr>
          <a:xfrm>
            <a:off x="1280160" y="3995928"/>
            <a:ext cx="4480560" cy="502920"/>
          </a:xfrm>
          <a:prstGeom prst="rect">
            <a:avLst/>
          </a:prstGeom>
          <a:noFill/>
          <a:ln/>
        </p:spPr>
        <p:txBody>
          <a:bodyPr wrap="square" lIns="0" tIns="0" rIns="0" bIns="0" rtlCol="0" anchor="ctr"/>
          <a:lstStyle/>
          <a:p>
            <a:pPr indent="0" marL="0">
              <a:buNone/>
            </a:pPr>
            <a:r>
              <a:rPr lang="en-US" sz="2000" i="1" dirty="0">
                <a:solidFill>
                  <a:schemeClr val="tx2"/>
                </a:solidFill>
                <a:latin typeface="Georgia" pitchFamily="34" charset="0"/>
                <a:ea typeface="Georgia" pitchFamily="34" charset="-122"/>
                <a:cs typeface="Georgia" pitchFamily="34" charset="-120"/>
              </a:rPr>
              <a:t>“Prices keep going up”</a:t>
            </a:r>
            <a:endParaRPr lang="en-US" sz="2000" dirty="0"/>
          </a:p>
        </p:txBody>
      </p:sp>
      <p:sp>
        <p:nvSpPr>
          <p:cNvPr id="16" name="Text 11"/>
          <p:cNvSpPr txBox="1"/>
          <p:nvPr/>
        </p:nvSpPr>
        <p:spPr>
          <a:xfrm>
            <a:off x="1280160" y="4572000"/>
            <a:ext cx="4480560" cy="594360"/>
          </a:xfrm>
          <a:prstGeom prst="rect">
            <a:avLst/>
          </a:prstGeom>
          <a:noFill/>
          <a:ln/>
        </p:spPr>
        <p:txBody>
          <a:bodyPr wrap="square" lIns="0" tIns="0" rIns="0" bIns="0" rtlCol="0" anchor="t"/>
          <a:lstStyle/>
          <a:p>
            <a:pPr indent="0" marL="0">
              <a:buNone/>
            </a:pPr>
            <a:r>
              <a:rPr lang="en-US" sz="1300" dirty="0">
                <a:solidFill>
                  <a:schemeClr val="tx1"/>
                </a:solidFill>
              </a:rPr>
              <a:t>A weaker naira pushed up import costs and shelf prices</a:t>
            </a:r>
            <a:endParaRPr lang="en-US" sz="1300" dirty="0"/>
          </a:p>
        </p:txBody>
      </p:sp>
      <p:sp>
        <p:nvSpPr>
          <p:cNvPr id="17" name="Answer 3"/>
          <p:cNvSpPr txBox="1"/>
          <p:nvPr/>
        </p:nvSpPr>
        <p:spPr>
          <a:xfrm>
            <a:off x="1280160" y="5257800"/>
            <a:ext cx="4480560"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Minis, refills and member prices</a:t>
            </a:r>
            <a:endParaRPr lang="en-US" sz="1300" dirty="0"/>
          </a:p>
        </p:txBody>
      </p:sp>
      <p:sp>
        <p:nvSpPr>
          <p:cNvPr id="18" name="Voice card 4"/>
          <p:cNvSpPr/>
          <p:nvPr/>
        </p:nvSpPr>
        <p:spPr>
          <a:xfrm>
            <a:off x="6172200" y="3794760"/>
            <a:ext cx="5440680" cy="2057400"/>
          </a:xfrm>
          <a:prstGeom prst="roundRect">
            <a:avLst>
              <a:gd name="adj" fmla="val 7111"/>
            </a:avLst>
          </a:prstGeom>
          <a:solidFill>
            <a:schemeClr val="bg1"/>
          </a:solidFill>
          <a:ln/>
          <a:effectLst>
            <a:outerShdw sx="100000" sy="100000" kx="0" ky="0" algn="bl" rotWithShape="0" blurRad="127000" dist="38100" dir="5400000">
              <a:srgbClr val="4E176B">
                <a:alpha val="12000"/>
              </a:srgbClr>
            </a:outerShdw>
          </a:effectLst>
        </p:spPr>
      </p:sp>
      <p:pic>
        <p:nvPicPr>
          <p:cNvPr id="19" name="Image 3" descr="Quote mark">    </p:cNvPr>
          <p:cNvPicPr>
            <a:picLocks noChangeAspect="1"/>
          </p:cNvPicPr>
          <p:nvPr/>
        </p:nvPicPr>
        <p:blipFill>
          <a:blip r:embed="rId4"/>
          <a:stretch>
            <a:fillRect/>
          </a:stretch>
        </p:blipFill>
        <p:spPr>
          <a:xfrm>
            <a:off x="6446520" y="4069080"/>
            <a:ext cx="320040" cy="320040"/>
          </a:xfrm>
          <a:prstGeom prst="rect">
            <a:avLst/>
          </a:prstGeom>
        </p:spPr>
      </p:pic>
      <p:sp>
        <p:nvSpPr>
          <p:cNvPr id="20" name="Text 14"/>
          <p:cNvSpPr txBox="1"/>
          <p:nvPr/>
        </p:nvSpPr>
        <p:spPr>
          <a:xfrm>
            <a:off x="6903720" y="3995928"/>
            <a:ext cx="4480560" cy="502920"/>
          </a:xfrm>
          <a:prstGeom prst="rect">
            <a:avLst/>
          </a:prstGeom>
          <a:noFill/>
          <a:ln/>
        </p:spPr>
        <p:txBody>
          <a:bodyPr wrap="square" lIns="0" tIns="0" rIns="0" bIns="0" rtlCol="0" anchor="ctr"/>
          <a:lstStyle/>
          <a:p>
            <a:pPr indent="0" marL="0">
              <a:buNone/>
            </a:pPr>
            <a:r>
              <a:rPr lang="en-US" sz="2000" i="1" dirty="0">
                <a:solidFill>
                  <a:schemeClr val="tx2"/>
                </a:solidFill>
                <a:latin typeface="Georgia" pitchFamily="34" charset="0"/>
                <a:ea typeface="Georgia" pitchFamily="34" charset="-122"/>
                <a:cs typeface="Georgia" pitchFamily="34" charset="-120"/>
              </a:rPr>
              <a:t>“I just want even skin”</a:t>
            </a:r>
            <a:endParaRPr lang="en-US" sz="2000" dirty="0"/>
          </a:p>
        </p:txBody>
      </p:sp>
      <p:sp>
        <p:nvSpPr>
          <p:cNvPr id="21" name="Text 15"/>
          <p:cNvSpPr txBox="1"/>
          <p:nvPr/>
        </p:nvSpPr>
        <p:spPr>
          <a:xfrm>
            <a:off x="6903720" y="4572000"/>
            <a:ext cx="4480560" cy="594360"/>
          </a:xfrm>
          <a:prstGeom prst="rect">
            <a:avLst/>
          </a:prstGeom>
          <a:noFill/>
          <a:ln/>
        </p:spPr>
        <p:txBody>
          <a:bodyPr wrap="square" lIns="0" tIns="0" rIns="0" bIns="0" rtlCol="0" anchor="t"/>
          <a:lstStyle/>
          <a:p>
            <a:pPr indent="0" marL="0">
              <a:buNone/>
            </a:pPr>
            <a:r>
              <a:rPr lang="en-US" sz="1300" dirty="0">
                <a:solidFill>
                  <a:schemeClr val="tx1"/>
                </a:solidFill>
              </a:rPr>
              <a:t>77% of Nigerian women use skin-lightening products (WHO survey)</a:t>
            </a:r>
            <a:endParaRPr lang="en-US" sz="1300" dirty="0"/>
          </a:p>
        </p:txBody>
      </p:sp>
      <p:sp>
        <p:nvSpPr>
          <p:cNvPr id="22" name="Answer 4"/>
          <p:cNvSpPr txBox="1"/>
          <p:nvPr/>
        </p:nvSpPr>
        <p:spPr>
          <a:xfrm>
            <a:off x="6903720" y="5257800"/>
            <a:ext cx="4480560"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Healthy, even skin: never lighter skin</a:t>
            </a:r>
            <a:endParaRPr lang="en-US" sz="1300" dirty="0"/>
          </a:p>
        </p:txBody>
      </p:sp>
      <p:sp>
        <p:nvSpPr>
          <p:cNvPr id="23" name="Source"/>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000" i="1" dirty="0">
                <a:solidFill>
                  <a:schemeClr val="tx2"/>
                </a:solidFill>
              </a:rPr>
              <a:t>Sources: ARISE; BusinessDay; Gazette; Scientific Reports (2023), citing a WHO survey</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t"/>
          <a:lstStyle/>
          <a:p>
            <a:pPr algn="l" indent="0" marL="0">
              <a:buNone/>
            </a:pPr>
            <a:r>
              <a:rPr lang="en-US" sz="3200" dirty="0">
                <a:solidFill>
                  <a:schemeClr val="tx1"/>
                </a:solidFill>
              </a:rPr>
              <a:t>Nigerians buy on trust, from people they know</a:t>
            </a:r>
            <a:endParaRPr lang="en-US" sz="3200" dirty="0"/>
          </a:p>
        </p:txBody>
      </p:sp>
      <p:sp>
        <p:nvSpPr>
          <p:cNvPr id="3" name="Trust stat 1"/>
          <p:cNvSpPr txBox="1"/>
          <p:nvPr/>
        </p:nvSpPr>
        <p:spPr>
          <a:xfrm>
            <a:off x="548640" y="1508760"/>
            <a:ext cx="2377440" cy="914400"/>
          </a:xfrm>
          <a:prstGeom prst="rect">
            <a:avLst/>
          </a:prstGeom>
          <a:noFill/>
          <a:ln/>
        </p:spPr>
        <p:txBody>
          <a:bodyPr wrap="square" lIns="0" tIns="0" rIns="0" bIns="0" rtlCol="0" anchor="ctr"/>
          <a:lstStyle/>
          <a:p>
            <a:pPr indent="0" marL="0">
              <a:buNone/>
            </a:pPr>
            <a:r>
              <a:rPr lang="en-US" sz="4200" dirty="0">
                <a:solidFill>
                  <a:schemeClr val="accent1"/>
                </a:solidFill>
                <a:latin typeface="Georgia" pitchFamily="34" charset="0"/>
                <a:ea typeface="Georgia" pitchFamily="34" charset="-122"/>
                <a:cs typeface="Georgia" pitchFamily="34" charset="-120"/>
              </a:rPr>
              <a:t>7 in 10</a:t>
            </a:r>
            <a:endParaRPr lang="en-US" sz="4200" dirty="0"/>
          </a:p>
        </p:txBody>
      </p:sp>
      <p:sp>
        <p:nvSpPr>
          <p:cNvPr id="4" name="Text 2"/>
          <p:cNvSpPr txBox="1"/>
          <p:nvPr/>
        </p:nvSpPr>
        <p:spPr>
          <a:xfrm>
            <a:off x="3017520" y="1508760"/>
            <a:ext cx="3017520" cy="914400"/>
          </a:xfrm>
          <a:prstGeom prst="rect">
            <a:avLst/>
          </a:prstGeom>
          <a:noFill/>
          <a:ln/>
        </p:spPr>
        <p:txBody>
          <a:bodyPr wrap="square" lIns="0" tIns="0" rIns="0" bIns="0" rtlCol="0" anchor="ctr"/>
          <a:lstStyle/>
          <a:p>
            <a:pPr indent="0" marL="0">
              <a:buNone/>
            </a:pPr>
            <a:r>
              <a:rPr lang="en-US" sz="1600" dirty="0">
                <a:solidFill>
                  <a:schemeClr val="tx1"/>
                </a:solidFill>
              </a:rPr>
              <a:t>rely on personal recommendations</a:t>
            </a:r>
            <a:endParaRPr lang="en-US" sz="1600" dirty="0"/>
          </a:p>
        </p:txBody>
      </p:sp>
      <p:sp>
        <p:nvSpPr>
          <p:cNvPr id="5" name="Trust stat 2"/>
          <p:cNvSpPr txBox="1"/>
          <p:nvPr/>
        </p:nvSpPr>
        <p:spPr>
          <a:xfrm>
            <a:off x="548640" y="2926080"/>
            <a:ext cx="2377440" cy="914400"/>
          </a:xfrm>
          <a:prstGeom prst="rect">
            <a:avLst/>
          </a:prstGeom>
          <a:noFill/>
          <a:ln/>
        </p:spPr>
        <p:txBody>
          <a:bodyPr wrap="square" lIns="0" tIns="0" rIns="0" bIns="0" rtlCol="0" anchor="ctr"/>
          <a:lstStyle/>
          <a:p>
            <a:pPr indent="0" marL="0">
              <a:buNone/>
            </a:pPr>
            <a:r>
              <a:rPr lang="en-US" sz="4200" dirty="0">
                <a:solidFill>
                  <a:schemeClr val="accent1"/>
                </a:solidFill>
                <a:latin typeface="Georgia" pitchFamily="34" charset="0"/>
                <a:ea typeface="Georgia" pitchFamily="34" charset="-122"/>
                <a:cs typeface="Georgia" pitchFamily="34" charset="-120"/>
              </a:rPr>
              <a:t>67.4%</a:t>
            </a:r>
            <a:endParaRPr lang="en-US" sz="4200" dirty="0"/>
          </a:p>
        </p:txBody>
      </p:sp>
      <p:sp>
        <p:nvSpPr>
          <p:cNvPr id="6" name="Text 4"/>
          <p:cNvSpPr txBox="1"/>
          <p:nvPr/>
        </p:nvSpPr>
        <p:spPr>
          <a:xfrm>
            <a:off x="3017520" y="2926080"/>
            <a:ext cx="3017520" cy="914400"/>
          </a:xfrm>
          <a:prstGeom prst="rect">
            <a:avLst/>
          </a:prstGeom>
          <a:noFill/>
          <a:ln/>
        </p:spPr>
        <p:txBody>
          <a:bodyPr wrap="square" lIns="0" tIns="0" rIns="0" bIns="0" rtlCol="0" anchor="ctr"/>
          <a:lstStyle/>
          <a:p>
            <a:pPr indent="0" marL="0">
              <a:buNone/>
            </a:pPr>
            <a:r>
              <a:rPr lang="en-US" sz="1600" dirty="0">
                <a:solidFill>
                  <a:schemeClr val="tx1"/>
                </a:solidFill>
              </a:rPr>
              <a:t>prefer businesses that offer rewards</a:t>
            </a:r>
            <a:endParaRPr lang="en-US" sz="1600" dirty="0"/>
          </a:p>
        </p:txBody>
      </p:sp>
      <p:sp>
        <p:nvSpPr>
          <p:cNvPr id="7" name="Trust stat 3"/>
          <p:cNvSpPr txBox="1"/>
          <p:nvPr/>
        </p:nvSpPr>
        <p:spPr>
          <a:xfrm>
            <a:off x="548640" y="4343400"/>
            <a:ext cx="2377440" cy="914400"/>
          </a:xfrm>
          <a:prstGeom prst="rect">
            <a:avLst/>
          </a:prstGeom>
          <a:noFill/>
          <a:ln/>
        </p:spPr>
        <p:txBody>
          <a:bodyPr wrap="square" lIns="0" tIns="0" rIns="0" bIns="0" rtlCol="0" anchor="ctr"/>
          <a:lstStyle/>
          <a:p>
            <a:pPr indent="0" marL="0">
              <a:buNone/>
            </a:pPr>
            <a:r>
              <a:rPr lang="en-US" sz="4200" dirty="0">
                <a:solidFill>
                  <a:schemeClr val="accent1"/>
                </a:solidFill>
                <a:latin typeface="Georgia" pitchFamily="34" charset="0"/>
                <a:ea typeface="Georgia" pitchFamily="34" charset="-122"/>
                <a:cs typeface="Georgia" pitchFamily="34" charset="-120"/>
              </a:rPr>
              <a:t>6 in 10</a:t>
            </a:r>
            <a:endParaRPr lang="en-US" sz="4200" dirty="0"/>
          </a:p>
        </p:txBody>
      </p:sp>
      <p:sp>
        <p:nvSpPr>
          <p:cNvPr id="8" name="Text 6"/>
          <p:cNvSpPr txBox="1"/>
          <p:nvPr/>
        </p:nvSpPr>
        <p:spPr>
          <a:xfrm>
            <a:off x="3017520" y="4343400"/>
            <a:ext cx="3017520" cy="914400"/>
          </a:xfrm>
          <a:prstGeom prst="rect">
            <a:avLst/>
          </a:prstGeom>
          <a:noFill/>
          <a:ln/>
        </p:spPr>
        <p:txBody>
          <a:bodyPr wrap="square" lIns="0" tIns="0" rIns="0" bIns="0" rtlCol="0" anchor="ctr"/>
          <a:lstStyle/>
          <a:p>
            <a:pPr indent="0" marL="0">
              <a:buNone/>
            </a:pPr>
            <a:r>
              <a:rPr lang="en-US" sz="1600" dirty="0">
                <a:solidFill>
                  <a:schemeClr val="tx1"/>
                </a:solidFill>
              </a:rPr>
              <a:t>switched brands last year because of price</a:t>
            </a:r>
            <a:endParaRPr lang="en-US" sz="1600" dirty="0"/>
          </a:p>
        </p:txBody>
      </p:sp>
      <p:sp>
        <p:nvSpPr>
          <p:cNvPr id="9" name="Text 7"/>
          <p:cNvSpPr txBox="1"/>
          <p:nvPr/>
        </p:nvSpPr>
        <p:spPr>
          <a:xfrm>
            <a:off x="548640" y="5486400"/>
            <a:ext cx="5486400" cy="457200"/>
          </a:xfrm>
          <a:prstGeom prst="rect">
            <a:avLst/>
          </a:prstGeom>
          <a:noFill/>
          <a:ln/>
        </p:spPr>
        <p:txBody>
          <a:bodyPr wrap="square" lIns="0" tIns="0" rIns="0" bIns="0" rtlCol="0" anchor="t"/>
          <a:lstStyle/>
          <a:p>
            <a:pPr indent="0" marL="0">
              <a:buNone/>
            </a:pPr>
            <a:r>
              <a:rPr lang="en-US" sz="1200" i="1" dirty="0">
                <a:solidFill>
                  <a:schemeClr val="tx2"/>
                </a:solidFill>
              </a:rPr>
              <a:t>A 2025 study of 350 Nigerians: engagement and authenticity drive purchase intent; an influencer's reach does not.</a:t>
            </a:r>
            <a:endParaRPr lang="en-US" sz="1200" dirty="0"/>
          </a:p>
        </p:txBody>
      </p:sp>
      <p:sp>
        <p:nvSpPr>
          <p:cNvPr id="10" name="TikTok card"/>
          <p:cNvSpPr/>
          <p:nvPr/>
        </p:nvSpPr>
        <p:spPr>
          <a:xfrm>
            <a:off x="6400800" y="1508760"/>
            <a:ext cx="5212080" cy="1234440"/>
          </a:xfrm>
          <a:prstGeom prst="roundRect">
            <a:avLst>
              <a:gd name="adj" fmla="val 11852"/>
            </a:avLst>
          </a:prstGeom>
          <a:solidFill>
            <a:schemeClr val="bg2"/>
          </a:solidFill>
          <a:ln/>
          <a:effectLst>
            <a:outerShdw sx="100000" sy="100000" kx="0" ky="0" algn="bl" rotWithShape="0" blurRad="127000" dist="38100" dir="5400000">
              <a:srgbClr val="4E176B">
                <a:alpha val="12000"/>
              </a:srgbClr>
            </a:outerShdw>
          </a:effectLst>
        </p:spPr>
      </p:sp>
      <p:sp>
        <p:nvSpPr>
          <p:cNvPr id="11" name="TikTok circle"/>
          <p:cNvSpPr/>
          <p:nvPr/>
        </p:nvSpPr>
        <p:spPr>
          <a:xfrm>
            <a:off x="6629400" y="1783080"/>
            <a:ext cx="685800" cy="685800"/>
          </a:xfrm>
          <a:prstGeom prst="ellipse">
            <a:avLst/>
          </a:prstGeom>
          <a:solidFill>
            <a:schemeClr val="tx2"/>
          </a:solidFill>
          <a:ln/>
        </p:spPr>
      </p:sp>
      <p:pic>
        <p:nvPicPr>
          <p:cNvPr id="12" name="TikTok icon" descr="TikTok">    </p:cNvPr>
          <p:cNvPicPr>
            <a:picLocks noChangeAspect="1"/>
          </p:cNvPicPr>
          <p:nvPr/>
        </p:nvPicPr>
        <p:blipFill>
          <a:blip r:embed="rId1"/>
          <a:stretch>
            <a:fillRect/>
          </a:stretch>
        </p:blipFill>
        <p:spPr>
          <a:xfrm>
            <a:off x="6800850" y="1954530"/>
            <a:ext cx="342900" cy="342900"/>
          </a:xfrm>
          <a:prstGeom prst="rect">
            <a:avLst/>
          </a:prstGeom>
        </p:spPr>
      </p:pic>
      <p:sp>
        <p:nvSpPr>
          <p:cNvPr id="13" name="Text 10"/>
          <p:cNvSpPr txBox="1"/>
          <p:nvPr/>
        </p:nvSpPr>
        <p:spPr>
          <a:xfrm>
            <a:off x="7543800" y="1645920"/>
            <a:ext cx="3886200" cy="960120"/>
          </a:xfrm>
          <a:prstGeom prst="rect">
            <a:avLst/>
          </a:prstGeom>
          <a:noFill/>
          <a:ln/>
        </p:spPr>
        <p:txBody>
          <a:bodyPr wrap="square" lIns="0" tIns="0" rIns="0" bIns="0" rtlCol="0" anchor="ctr"/>
          <a:lstStyle/>
          <a:p>
            <a:pPr indent="0" marL="0">
              <a:buNone/>
            </a:pPr>
            <a:r>
              <a:rPr lang="en-US" sz="1600" b="1" dirty="0">
                <a:solidFill>
                  <a:schemeClr val="tx1"/>
                </a:solidFill>
              </a:rPr>
              <a:t>TikTok  </a:t>
            </a:r>
            <a:pPr indent="0" marL="0">
              <a:buNone/>
            </a:pPr>
            <a:r>
              <a:rPr lang="en-US" sz="1400" dirty="0">
                <a:solidFill>
                  <a:schemeClr val="tx1"/>
                </a:solidFill>
              </a:rPr>
              <a:t>47.8m ad reach</a:t>
            </a:r>
            <a:endParaRPr lang="en-US" sz="1600" dirty="0"/>
          </a:p>
          <a:p>
            <a:pPr indent="0" marL="0">
              <a:buNone/>
            </a:pPr>
            <a:r>
              <a:rPr lang="en-US" sz="1300" i="1" dirty="0">
                <a:solidFill>
                  <a:schemeClr val="tx1"/>
                </a:solidFill>
              </a:rPr>
              <a:t>Where people discover</a:t>
            </a:r>
            <a:endParaRPr lang="en-US" sz="1600" dirty="0"/>
          </a:p>
        </p:txBody>
      </p:sp>
      <p:sp>
        <p:nvSpPr>
          <p:cNvPr id="14" name="Instagram card"/>
          <p:cNvSpPr/>
          <p:nvPr/>
        </p:nvSpPr>
        <p:spPr>
          <a:xfrm>
            <a:off x="6400800" y="2926080"/>
            <a:ext cx="5212080" cy="1234440"/>
          </a:xfrm>
          <a:prstGeom prst="roundRect">
            <a:avLst>
              <a:gd name="adj" fmla="val 11852"/>
            </a:avLst>
          </a:prstGeom>
          <a:solidFill>
            <a:schemeClr val="bg2"/>
          </a:solidFill>
          <a:ln/>
          <a:effectLst>
            <a:outerShdw sx="100000" sy="100000" kx="0" ky="0" algn="bl" rotWithShape="0" blurRad="127000" dist="38100" dir="5400000">
              <a:srgbClr val="4E176B">
                <a:alpha val="12000"/>
              </a:srgbClr>
            </a:outerShdw>
          </a:effectLst>
        </p:spPr>
      </p:sp>
      <p:sp>
        <p:nvSpPr>
          <p:cNvPr id="15" name="Instagram circle"/>
          <p:cNvSpPr/>
          <p:nvPr/>
        </p:nvSpPr>
        <p:spPr>
          <a:xfrm>
            <a:off x="6629400" y="3200400"/>
            <a:ext cx="685800" cy="685800"/>
          </a:xfrm>
          <a:prstGeom prst="ellipse">
            <a:avLst/>
          </a:prstGeom>
          <a:solidFill>
            <a:schemeClr val="tx2"/>
          </a:solidFill>
          <a:ln/>
        </p:spPr>
      </p:sp>
      <p:pic>
        <p:nvPicPr>
          <p:cNvPr id="16" name="Instagram icon" descr="Instagram">    </p:cNvPr>
          <p:cNvPicPr>
            <a:picLocks noChangeAspect="1"/>
          </p:cNvPicPr>
          <p:nvPr/>
        </p:nvPicPr>
        <p:blipFill>
          <a:blip r:embed="rId2"/>
          <a:stretch>
            <a:fillRect/>
          </a:stretch>
        </p:blipFill>
        <p:spPr>
          <a:xfrm>
            <a:off x="6800850" y="3371850"/>
            <a:ext cx="342900" cy="342900"/>
          </a:xfrm>
          <a:prstGeom prst="rect">
            <a:avLst/>
          </a:prstGeom>
        </p:spPr>
      </p:pic>
      <p:sp>
        <p:nvSpPr>
          <p:cNvPr id="17" name="Text 13"/>
          <p:cNvSpPr txBox="1"/>
          <p:nvPr/>
        </p:nvSpPr>
        <p:spPr>
          <a:xfrm>
            <a:off x="7543800" y="3063240"/>
            <a:ext cx="3886200" cy="960120"/>
          </a:xfrm>
          <a:prstGeom prst="rect">
            <a:avLst/>
          </a:prstGeom>
          <a:noFill/>
          <a:ln/>
        </p:spPr>
        <p:txBody>
          <a:bodyPr wrap="square" lIns="0" tIns="0" rIns="0" bIns="0" rtlCol="0" anchor="ctr"/>
          <a:lstStyle/>
          <a:p>
            <a:pPr indent="0" marL="0">
              <a:buNone/>
            </a:pPr>
            <a:r>
              <a:rPr lang="en-US" sz="1600" b="1" dirty="0">
                <a:solidFill>
                  <a:schemeClr val="tx1"/>
                </a:solidFill>
              </a:rPr>
              <a:t>Instagram  </a:t>
            </a:r>
            <a:pPr indent="0" marL="0">
              <a:buNone/>
            </a:pPr>
            <a:r>
              <a:rPr lang="en-US" sz="1400" dirty="0">
                <a:solidFill>
                  <a:schemeClr val="tx1"/>
                </a:solidFill>
              </a:rPr>
              <a:t>10.0m ad reach, down 6.1%</a:t>
            </a:r>
            <a:endParaRPr lang="en-US" sz="1600" dirty="0"/>
          </a:p>
          <a:p>
            <a:pPr indent="0" marL="0">
              <a:buNone/>
            </a:pPr>
            <a:r>
              <a:rPr lang="en-US" sz="1300" i="1" dirty="0">
                <a:solidFill>
                  <a:schemeClr val="tx1"/>
                </a:solidFill>
              </a:rPr>
              <a:t>Where people browse and buy</a:t>
            </a:r>
            <a:endParaRPr lang="en-US" sz="1600" dirty="0"/>
          </a:p>
        </p:txBody>
      </p:sp>
      <p:sp>
        <p:nvSpPr>
          <p:cNvPr id="18" name="WhatsApp card"/>
          <p:cNvSpPr/>
          <p:nvPr/>
        </p:nvSpPr>
        <p:spPr>
          <a:xfrm>
            <a:off x="6400800" y="4343400"/>
            <a:ext cx="5212080" cy="1234440"/>
          </a:xfrm>
          <a:prstGeom prst="roundRect">
            <a:avLst>
              <a:gd name="adj" fmla="val 11852"/>
            </a:avLst>
          </a:prstGeom>
          <a:solidFill>
            <a:schemeClr val="tx2"/>
          </a:solidFill>
          <a:ln/>
          <a:effectLst>
            <a:outerShdw sx="100000" sy="100000" kx="0" ky="0" algn="bl" rotWithShape="0" blurRad="127000" dist="38100" dir="5400000">
              <a:srgbClr val="4E176B">
                <a:alpha val="12000"/>
              </a:srgbClr>
            </a:outerShdw>
          </a:effectLst>
        </p:spPr>
      </p:sp>
      <p:sp>
        <p:nvSpPr>
          <p:cNvPr id="19" name="WhatsApp circle"/>
          <p:cNvSpPr/>
          <p:nvPr/>
        </p:nvSpPr>
        <p:spPr>
          <a:xfrm>
            <a:off x="6629400" y="4617720"/>
            <a:ext cx="685800" cy="685800"/>
          </a:xfrm>
          <a:prstGeom prst="ellipse">
            <a:avLst/>
          </a:prstGeom>
          <a:solidFill>
            <a:schemeClr val="accent1"/>
          </a:solidFill>
          <a:ln/>
        </p:spPr>
      </p:sp>
      <p:pic>
        <p:nvPicPr>
          <p:cNvPr id="20" name="WhatsApp icon" descr="WhatsApp">    </p:cNvPr>
          <p:cNvPicPr>
            <a:picLocks noChangeAspect="1"/>
          </p:cNvPicPr>
          <p:nvPr/>
        </p:nvPicPr>
        <p:blipFill>
          <a:blip r:embed="rId3"/>
          <a:stretch>
            <a:fillRect/>
          </a:stretch>
        </p:blipFill>
        <p:spPr>
          <a:xfrm>
            <a:off x="6800850" y="4789170"/>
            <a:ext cx="342900" cy="342900"/>
          </a:xfrm>
          <a:prstGeom prst="rect">
            <a:avLst/>
          </a:prstGeom>
        </p:spPr>
      </p:pic>
      <p:sp>
        <p:nvSpPr>
          <p:cNvPr id="21" name="Text 16"/>
          <p:cNvSpPr txBox="1"/>
          <p:nvPr/>
        </p:nvSpPr>
        <p:spPr>
          <a:xfrm>
            <a:off x="7543800" y="4480560"/>
            <a:ext cx="3886200" cy="960120"/>
          </a:xfrm>
          <a:prstGeom prst="rect">
            <a:avLst/>
          </a:prstGeom>
          <a:noFill/>
          <a:ln/>
        </p:spPr>
        <p:txBody>
          <a:bodyPr wrap="square" lIns="0" tIns="0" rIns="0" bIns="0" rtlCol="0" anchor="ctr"/>
          <a:lstStyle/>
          <a:p>
            <a:pPr indent="0" marL="0">
              <a:buNone/>
            </a:pPr>
            <a:r>
              <a:rPr lang="en-US" sz="1600" b="1" dirty="0">
                <a:solidFill>
                  <a:schemeClr val="bg1"/>
                </a:solidFill>
              </a:rPr>
              <a:t>WhatsApp  </a:t>
            </a:r>
            <a:pPr indent="0" marL="0">
              <a:buNone/>
            </a:pPr>
            <a:r>
              <a:rPr lang="en-US" sz="1400" dirty="0">
                <a:solidFill>
                  <a:schemeClr val="bg1"/>
                </a:solidFill>
              </a:rPr>
              <a:t>Used by 96.5% of internet users</a:t>
            </a:r>
            <a:endParaRPr lang="en-US" sz="1600" dirty="0"/>
          </a:p>
          <a:p>
            <a:pPr indent="0" marL="0">
              <a:buNone/>
            </a:pPr>
            <a:r>
              <a:rPr lang="en-US" sz="1300" i="1" dirty="0">
                <a:solidFill>
                  <a:schemeClr val="bg1"/>
                </a:solidFill>
              </a:rPr>
              <a:t>Where people buy, ask and stay</a:t>
            </a:r>
            <a:endParaRPr lang="en-US" sz="1600" dirty="0"/>
          </a:p>
        </p:txBody>
      </p:sp>
      <p:sp>
        <p:nvSpPr>
          <p:cNvPr id="22" name="Source"/>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000" i="1" dirty="0">
                <a:solidFill>
                  <a:schemeClr val="tx2"/>
                </a:solidFill>
              </a:rPr>
              <a:t>Sources: Splice survey via TechCabal; NielsenIQ via Nairametrics; Redeemer's University (2025); Krestel, citing DataReportal</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t"/>
          <a:lstStyle/>
          <a:p>
            <a:pPr algn="l" indent="0" marL="0">
              <a:buNone/>
            </a:pPr>
            <a:r>
              <a:rPr lang="en-US" sz="3200" dirty="0">
                <a:solidFill>
                  <a:schemeClr val="tx1"/>
                </a:solidFill>
              </a:rPr>
              <a:t>₦150m needs 13,000+ extra orders to pay back</a:t>
            </a:r>
            <a:endParaRPr lang="en-US" sz="3200" dirty="0"/>
          </a:p>
        </p:txBody>
      </p:sp>
      <p:graphicFrame>
        <p:nvGraphicFramePr>
          <p:cNvPr id="3" name="Break-even chart" descr=""/>
          <p:cNvGraphicFramePr/>
          <p:nvPr/>
        </p:nvGraphicFramePr>
        <p:xfrm>
          <a:off x="548640" y="1508760"/>
          <a:ext cx="5852160" cy="4297680"/>
        </p:xfrm>
        <a:graphic xmlns:a="http://schemas.openxmlformats.org/drawingml/2006/main">
          <a:graphicData uri="http://schemas.openxmlformats.org/drawingml/2006/chart">
            <c:chart xmlns:c="http://schemas.openxmlformats.org/drawingml/2006/chart" r:id="rId1"/>
          </a:graphicData>
        </a:graphic>
      </p:graphicFrame>
      <p:sp>
        <p:nvSpPr>
          <p:cNvPr id="4" name="Reason 1"/>
          <p:cNvSpPr/>
          <p:nvPr/>
        </p:nvSpPr>
        <p:spPr>
          <a:xfrm>
            <a:off x="6766560" y="1508760"/>
            <a:ext cx="4846320" cy="960120"/>
          </a:xfrm>
          <a:prstGeom prst="roundRect">
            <a:avLst>
              <a:gd name="adj" fmla="val 15238"/>
            </a:avLst>
          </a:prstGeom>
          <a:solidFill>
            <a:schemeClr val="bg2"/>
          </a:solidFill>
          <a:ln/>
          <a:effectLst>
            <a:outerShdw sx="100000" sy="100000" kx="0" ky="0" algn="bl" rotWithShape="0" blurRad="127000" dist="38100" dir="5400000">
              <a:srgbClr val="4E176B">
                <a:alpha val="12000"/>
              </a:srgbClr>
            </a:outerShdw>
          </a:effectLst>
        </p:spPr>
      </p:sp>
      <p:sp>
        <p:nvSpPr>
          <p:cNvPr id="5" name="Text 2"/>
          <p:cNvSpPr txBox="1"/>
          <p:nvPr/>
        </p:nvSpPr>
        <p:spPr>
          <a:xfrm>
            <a:off x="6995160" y="1600200"/>
            <a:ext cx="4434840" cy="777240"/>
          </a:xfrm>
          <a:prstGeom prst="rect">
            <a:avLst/>
          </a:prstGeom>
          <a:noFill/>
          <a:ln/>
        </p:spPr>
        <p:txBody>
          <a:bodyPr wrap="square" lIns="0" tIns="0" rIns="0" bIns="0" rtlCol="0" anchor="ctr"/>
          <a:lstStyle/>
          <a:p>
            <a:pPr indent="0" marL="0">
              <a:buNone/>
            </a:pPr>
            <a:r>
              <a:rPr lang="en-US" sz="1500" b="1" dirty="0">
                <a:solidFill>
                  <a:schemeClr val="tx2"/>
                </a:solidFill>
              </a:rPr>
              <a:t>Reach doesn't sell</a:t>
            </a:r>
            <a:endParaRPr lang="en-US" sz="1500" dirty="0"/>
          </a:p>
          <a:p>
            <a:pPr indent="0" marL="0">
              <a:buNone/>
            </a:pPr>
            <a:r>
              <a:rPr lang="en-US" sz="1200" dirty="0">
                <a:solidFill>
                  <a:schemeClr val="tx1"/>
                </a:solidFill>
              </a:rPr>
              <a:t>In a 2025 Nigerian study, reach had no significant effect on purchase intent</a:t>
            </a:r>
            <a:endParaRPr lang="en-US" sz="1500" dirty="0"/>
          </a:p>
        </p:txBody>
      </p:sp>
      <p:sp>
        <p:nvSpPr>
          <p:cNvPr id="6" name="Reason 2"/>
          <p:cNvSpPr/>
          <p:nvPr/>
        </p:nvSpPr>
        <p:spPr>
          <a:xfrm>
            <a:off x="6766560" y="2624328"/>
            <a:ext cx="4846320" cy="960120"/>
          </a:xfrm>
          <a:prstGeom prst="roundRect">
            <a:avLst>
              <a:gd name="adj" fmla="val 15238"/>
            </a:avLst>
          </a:prstGeom>
          <a:solidFill>
            <a:schemeClr val="bg2"/>
          </a:solidFill>
          <a:ln/>
          <a:effectLst>
            <a:outerShdw sx="100000" sy="100000" kx="0" ky="0" algn="bl" rotWithShape="0" blurRad="127000" dist="38100" dir="5400000">
              <a:srgbClr val="4E176B">
                <a:alpha val="12000"/>
              </a:srgbClr>
            </a:outerShdw>
          </a:effectLst>
        </p:spPr>
      </p:sp>
      <p:sp>
        <p:nvSpPr>
          <p:cNvPr id="7" name="Text 4"/>
          <p:cNvSpPr txBox="1"/>
          <p:nvPr/>
        </p:nvSpPr>
        <p:spPr>
          <a:xfrm>
            <a:off x="6995160" y="2715768"/>
            <a:ext cx="4434840" cy="777240"/>
          </a:xfrm>
          <a:prstGeom prst="rect">
            <a:avLst/>
          </a:prstGeom>
          <a:noFill/>
          <a:ln/>
        </p:spPr>
        <p:txBody>
          <a:bodyPr wrap="square" lIns="0" tIns="0" rIns="0" bIns="0" rtlCol="0" anchor="ctr"/>
          <a:lstStyle/>
          <a:p>
            <a:pPr indent="0" marL="0">
              <a:buNone/>
            </a:pPr>
            <a:r>
              <a:rPr lang="en-US" sz="1500" b="1" dirty="0">
                <a:solidFill>
                  <a:schemeClr val="tx2"/>
                </a:solidFill>
              </a:rPr>
              <a:t>Big accounts engage less</a:t>
            </a:r>
            <a:endParaRPr lang="en-US" sz="1500" dirty="0"/>
          </a:p>
          <a:p>
            <a:pPr indent="0" marL="0">
              <a:buNone/>
            </a:pPr>
            <a:r>
              <a:rPr lang="en-US" sz="1200" dirty="0">
                <a:solidFill>
                  <a:schemeClr val="tx1"/>
                </a:solidFill>
              </a:rPr>
              <a:t>Mega accounts see 0.5–1% engagement; sampled Nigerian accounts show about 20% fake followers</a:t>
            </a:r>
            <a:endParaRPr lang="en-US" sz="1500" dirty="0"/>
          </a:p>
        </p:txBody>
      </p:sp>
      <p:sp>
        <p:nvSpPr>
          <p:cNvPr id="8" name="Reason 3"/>
          <p:cNvSpPr/>
          <p:nvPr/>
        </p:nvSpPr>
        <p:spPr>
          <a:xfrm>
            <a:off x="6766560" y="3739896"/>
            <a:ext cx="4846320" cy="960120"/>
          </a:xfrm>
          <a:prstGeom prst="roundRect">
            <a:avLst>
              <a:gd name="adj" fmla="val 15238"/>
            </a:avLst>
          </a:prstGeom>
          <a:solidFill>
            <a:schemeClr val="bg2"/>
          </a:solidFill>
          <a:ln/>
          <a:effectLst>
            <a:outerShdw sx="100000" sy="100000" kx="0" ky="0" algn="bl" rotWithShape="0" blurRad="127000" dist="38100" dir="5400000">
              <a:srgbClr val="4E176B">
                <a:alpha val="12000"/>
              </a:srgbClr>
            </a:outerShdw>
          </a:effectLst>
        </p:spPr>
      </p:sp>
      <p:sp>
        <p:nvSpPr>
          <p:cNvPr id="9" name="Text 6"/>
          <p:cNvSpPr txBox="1"/>
          <p:nvPr/>
        </p:nvSpPr>
        <p:spPr>
          <a:xfrm>
            <a:off x="6995160" y="3831336"/>
            <a:ext cx="4434840" cy="777240"/>
          </a:xfrm>
          <a:prstGeom prst="rect">
            <a:avLst/>
          </a:prstGeom>
          <a:noFill/>
          <a:ln/>
        </p:spPr>
        <p:txBody>
          <a:bodyPr wrap="square" lIns="0" tIns="0" rIns="0" bIns="0" rtlCol="0" anchor="ctr"/>
          <a:lstStyle/>
          <a:p>
            <a:pPr indent="0" marL="0">
              <a:buNone/>
            </a:pPr>
            <a:r>
              <a:rPr lang="en-US" sz="1500" b="1" dirty="0">
                <a:solidFill>
                  <a:schemeClr val="tx2"/>
                </a:solidFill>
              </a:rPr>
              <a:t>The same money goes further</a:t>
            </a:r>
            <a:endParaRPr lang="en-US" sz="1500" dirty="0"/>
          </a:p>
          <a:p>
            <a:pPr indent="0" marL="0">
              <a:buNone/>
            </a:pPr>
            <a:r>
              <a:rPr lang="en-US" sz="1200" dirty="0">
                <a:solidFill>
                  <a:schemeClr val="tx1"/>
                </a:solidFill>
              </a:rPr>
              <a:t>₦150m buys about 50 celebrity posts, or 600–3,000 micro creator posts</a:t>
            </a:r>
            <a:endParaRPr lang="en-US" sz="1500" dirty="0"/>
          </a:p>
        </p:txBody>
      </p:sp>
      <p:sp>
        <p:nvSpPr>
          <p:cNvPr id="10" name="Big name test"/>
          <p:cNvSpPr/>
          <p:nvPr/>
        </p:nvSpPr>
        <p:spPr>
          <a:xfrm>
            <a:off x="6766560" y="4892040"/>
            <a:ext cx="4846320" cy="914400"/>
          </a:xfrm>
          <a:prstGeom prst="roundRect">
            <a:avLst>
              <a:gd name="adj" fmla="val 16000"/>
            </a:avLst>
          </a:prstGeom>
          <a:solidFill>
            <a:schemeClr val="tx2"/>
          </a:solidFill>
          <a:ln/>
          <a:effectLst>
            <a:outerShdw sx="100000" sy="100000" kx="0" ky="0" algn="bl" rotWithShape="0" blurRad="127000" dist="38100" dir="5400000">
              <a:srgbClr val="4E176B">
                <a:alpha val="12000"/>
              </a:srgbClr>
            </a:outerShdw>
          </a:effectLst>
        </p:spPr>
      </p:sp>
      <p:sp>
        <p:nvSpPr>
          <p:cNvPr id="11" name="Text 8"/>
          <p:cNvSpPr txBox="1"/>
          <p:nvPr/>
        </p:nvSpPr>
        <p:spPr>
          <a:xfrm>
            <a:off x="6995160" y="4956048"/>
            <a:ext cx="4434840" cy="786384"/>
          </a:xfrm>
          <a:prstGeom prst="rect">
            <a:avLst/>
          </a:prstGeom>
          <a:noFill/>
          <a:ln/>
        </p:spPr>
        <p:txBody>
          <a:bodyPr wrap="square" lIns="0" tIns="0" rIns="0" bIns="0" rtlCol="0" anchor="ctr"/>
          <a:lstStyle/>
          <a:p>
            <a:pPr indent="0" marL="0">
              <a:buNone/>
            </a:pPr>
            <a:r>
              <a:rPr lang="en-US" sz="1300" b="1" dirty="0">
                <a:solidFill>
                  <a:schemeClr val="bg1"/>
                </a:solidFill>
              </a:rPr>
              <a:t>Still want a big name? </a:t>
            </a:r>
            <a:pPr indent="0" marL="0">
              <a:buNone/>
            </a:pPr>
            <a:r>
              <a:rPr lang="en-US" sz="1300" dirty="0">
                <a:solidFill>
                  <a:schemeClr val="bg1"/>
                </a:solidFill>
              </a:rPr>
              <a:t>Audit the audience, pay for one coded test post, then sign a smaller fee plus commission on sales.</a:t>
            </a:r>
            <a:endParaRPr lang="en-US" sz="1300" dirty="0"/>
          </a:p>
        </p:txBody>
      </p:sp>
      <p:sp>
        <p:nvSpPr>
          <p:cNvPr id="12" name="Source"/>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000" i="1" dirty="0">
                <a:solidFill>
                  <a:schemeClr val="tx2"/>
                </a:solidFill>
              </a:rPr>
              <a:t>Assumes a 45% gross margin; replace with Cosmo's real margin. Sources: Nitro; Snippet; Hypefy; Modash; Redeemer's University (2025)</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t"/>
          <a:lstStyle/>
          <a:p>
            <a:pPr algn="l" indent="0" marL="0">
              <a:buNone/>
            </a:pPr>
            <a:r>
              <a:rPr lang="en-US" sz="3200" dirty="0">
                <a:solidFill>
                  <a:schemeClr val="tx1"/>
                </a:solidFill>
              </a:rPr>
              <a:t>The Cosmo Circle: every sale feeds the next one</a:t>
            </a:r>
            <a:endParaRPr lang="en-US" sz="3200" dirty="0"/>
          </a:p>
        </p:txBody>
      </p:sp>
      <p:sp>
        <p:nvSpPr>
          <p:cNvPr id="3" name="Arrow 1"/>
          <p:cNvSpPr/>
          <p:nvPr/>
        </p:nvSpPr>
        <p:spPr>
          <a:xfrm flipH="1" flipV="1">
            <a:off x="7459393" y="2482823"/>
            <a:ext cx="130127" cy="40695"/>
          </a:xfrm>
          <a:prstGeom prst="line">
            <a:avLst/>
          </a:prstGeom>
          <a:noFill/>
          <a:ln w="28575">
            <a:solidFill>
              <a:srgbClr val="9B86BE"/>
            </a:solidFill>
            <a:prstDash val="solid"/>
            <a:tailEnd type="triangle"/>
          </a:ln>
        </p:spPr>
      </p:sp>
      <p:sp>
        <p:nvSpPr>
          <p:cNvPr id="4" name="Arrow 2"/>
          <p:cNvSpPr/>
          <p:nvPr/>
        </p:nvSpPr>
        <p:spPr>
          <a:xfrm>
            <a:off x="8949865" y="3456432"/>
            <a:ext cx="914" cy="768096"/>
          </a:xfrm>
          <a:prstGeom prst="line">
            <a:avLst/>
          </a:prstGeom>
          <a:noFill/>
          <a:ln w="28575">
            <a:solidFill>
              <a:srgbClr val="9B86BE"/>
            </a:solidFill>
            <a:prstDash val="solid"/>
            <a:tailEnd type="triangle"/>
          </a:ln>
        </p:spPr>
      </p:sp>
      <p:sp>
        <p:nvSpPr>
          <p:cNvPr id="5" name="Arrow 3"/>
          <p:cNvSpPr/>
          <p:nvPr/>
        </p:nvSpPr>
        <p:spPr>
          <a:xfrm flipV="1">
            <a:off x="7459393" y="5157443"/>
            <a:ext cx="130127" cy="40695"/>
          </a:xfrm>
          <a:prstGeom prst="line">
            <a:avLst/>
          </a:prstGeom>
          <a:noFill/>
          <a:ln w="28575">
            <a:solidFill>
              <a:srgbClr val="9B86BE"/>
            </a:solidFill>
            <a:prstDash val="solid"/>
            <a:tailEnd type="triangle"/>
          </a:ln>
        </p:spPr>
      </p:sp>
      <p:sp>
        <p:nvSpPr>
          <p:cNvPr id="6" name="Arrow 4"/>
          <p:cNvSpPr/>
          <p:nvPr/>
        </p:nvSpPr>
        <p:spPr>
          <a:xfrm>
            <a:off x="4608576" y="5157443"/>
            <a:ext cx="130127" cy="40695"/>
          </a:xfrm>
          <a:prstGeom prst="line">
            <a:avLst/>
          </a:prstGeom>
          <a:noFill/>
          <a:ln w="28575">
            <a:solidFill>
              <a:srgbClr val="9B86BE"/>
            </a:solidFill>
            <a:prstDash val="solid"/>
            <a:tailEnd type="triangle"/>
          </a:ln>
        </p:spPr>
      </p:sp>
      <p:sp>
        <p:nvSpPr>
          <p:cNvPr id="7" name="Arrow 5"/>
          <p:cNvSpPr/>
          <p:nvPr/>
        </p:nvSpPr>
        <p:spPr>
          <a:xfrm flipV="1">
            <a:off x="3248231" y="3456432"/>
            <a:ext cx="914" cy="768096"/>
          </a:xfrm>
          <a:prstGeom prst="line">
            <a:avLst/>
          </a:prstGeom>
          <a:noFill/>
          <a:ln w="28575">
            <a:solidFill>
              <a:srgbClr val="9B86BE"/>
            </a:solidFill>
            <a:prstDash val="solid"/>
            <a:tailEnd type="triangle"/>
          </a:ln>
        </p:spPr>
      </p:sp>
      <p:sp>
        <p:nvSpPr>
          <p:cNvPr id="8" name="Arrow 6"/>
          <p:cNvSpPr/>
          <p:nvPr/>
        </p:nvSpPr>
        <p:spPr>
          <a:xfrm flipH="1">
            <a:off x="4608576" y="2482823"/>
            <a:ext cx="130127" cy="40695"/>
          </a:xfrm>
          <a:prstGeom prst="line">
            <a:avLst/>
          </a:prstGeom>
          <a:noFill/>
          <a:ln w="38100">
            <a:solidFill>
              <a:schemeClr val="accent1"/>
            </a:solidFill>
            <a:prstDash val="solid"/>
            <a:tailEnd type="triangle"/>
          </a:ln>
        </p:spPr>
      </p:sp>
      <p:sp>
        <p:nvSpPr>
          <p:cNvPr id="9" name="Hub"/>
          <p:cNvSpPr/>
          <p:nvPr/>
        </p:nvSpPr>
        <p:spPr>
          <a:xfrm>
            <a:off x="4864608" y="3108960"/>
            <a:ext cx="2468880" cy="1463040"/>
          </a:xfrm>
          <a:prstGeom prst="ellipse">
            <a:avLst/>
          </a:prstGeom>
          <a:solidFill>
            <a:schemeClr val="tx2"/>
          </a:solidFill>
          <a:ln/>
          <a:effectLst>
            <a:outerShdw sx="100000" sy="100000" kx="0" ky="0" algn="bl" rotWithShape="0" blurRad="127000" dist="38100" dir="5400000">
              <a:srgbClr val="4E176B">
                <a:alpha val="12000"/>
              </a:srgbClr>
            </a:outerShdw>
          </a:effectLst>
        </p:spPr>
      </p:sp>
      <p:sp>
        <p:nvSpPr>
          <p:cNvPr id="10" name="Hub text"/>
          <p:cNvSpPr txBox="1"/>
          <p:nvPr/>
        </p:nvSpPr>
        <p:spPr>
          <a:xfrm>
            <a:off x="5001768" y="3273552"/>
            <a:ext cx="2194560" cy="1133856"/>
          </a:xfrm>
          <a:prstGeom prst="rect">
            <a:avLst/>
          </a:prstGeom>
          <a:noFill/>
          <a:ln/>
        </p:spPr>
        <p:txBody>
          <a:bodyPr wrap="square" lIns="0" tIns="0" rIns="0" bIns="0" rtlCol="0" anchor="ctr"/>
          <a:lstStyle/>
          <a:p>
            <a:pPr algn="ctr" indent="0" marL="0">
              <a:buNone/>
            </a:pPr>
            <a:r>
              <a:rPr lang="en-US" sz="2000" dirty="0">
                <a:solidFill>
                  <a:schemeClr val="bg1"/>
                </a:solidFill>
                <a:latin typeface="Georgia" pitchFamily="34" charset="0"/>
                <a:ea typeface="Georgia" pitchFamily="34" charset="-122"/>
                <a:cs typeface="Georgia" pitchFamily="34" charset="-120"/>
              </a:rPr>
              <a:t>Cosmo Circle</a:t>
            </a:r>
            <a:endParaRPr lang="en-US" sz="2000" dirty="0"/>
          </a:p>
          <a:p>
            <a:pPr algn="ctr" indent="0" marL="0">
              <a:buNone/>
            </a:pPr>
            <a:r>
              <a:rPr lang="en-US" sz="1100" dirty="0">
                <a:solidFill>
                  <a:schemeClr val="bg1"/>
                </a:solidFill>
              </a:rPr>
              <a:t>verified buyers who meet, share and sell</a:t>
            </a:r>
            <a:endParaRPr lang="en-US" sz="2000" dirty="0"/>
          </a:p>
        </p:txBody>
      </p:sp>
      <p:sp>
        <p:nvSpPr>
          <p:cNvPr id="11" name="Step 1"/>
          <p:cNvSpPr txBox="1"/>
          <p:nvPr/>
        </p:nvSpPr>
        <p:spPr>
          <a:xfrm>
            <a:off x="4681728" y="1623060"/>
            <a:ext cx="2834640" cy="868680"/>
          </a:xfrm>
          <a:prstGeom prst="roundRect">
            <a:avLst>
              <a:gd name="adj" fmla="val 21053"/>
            </a:avLst>
          </a:prstGeom>
          <a:solidFill>
            <a:schemeClr val="bg1"/>
          </a:solidFill>
          <a:ln w="19050">
            <a:solidFill>
              <a:schemeClr val="accent6"/>
            </a:solidFill>
          </a:ln>
          <a:effectLst>
            <a:outerShdw sx="100000" sy="100000" kx="0" ky="0" algn="bl" rotWithShape="0" blurRad="127000" dist="38100" dir="5400000">
              <a:srgbClr val="4E176B">
                <a:alpha val="12000"/>
              </a:srgbClr>
            </a:outerShdw>
          </a:effectLst>
        </p:spPr>
        <p:txBody>
          <a:bodyPr wrap="square" lIns="635" tIns="635" rIns="635" bIns="635" rtlCol="0" anchor="ctr"/>
          <a:lstStyle/>
          <a:p>
            <a:pPr algn="ctr" indent="0" marL="0">
              <a:buNone/>
            </a:pPr>
            <a:r>
              <a:rPr lang="en-US" sz="1400" b="1" dirty="0">
                <a:solidFill>
                  <a:schemeClr val="tx2"/>
                </a:solidFill>
              </a:rPr>
              <a:t>Creators and members post</a:t>
            </a:r>
            <a:endParaRPr lang="en-US" sz="1400" dirty="0"/>
          </a:p>
          <a:p>
            <a:pPr algn="ctr" indent="0" marL="0">
              <a:buNone/>
            </a:pPr>
            <a:r>
              <a:rPr lang="en-US" sz="1200" dirty="0">
                <a:solidFill>
                  <a:schemeClr val="tx1"/>
                </a:solidFill>
              </a:rPr>
              <a:t>each with a unique code</a:t>
            </a:r>
            <a:endParaRPr lang="en-US" sz="1400" dirty="0"/>
          </a:p>
        </p:txBody>
      </p:sp>
      <p:sp>
        <p:nvSpPr>
          <p:cNvPr id="12" name="Step 2"/>
          <p:cNvSpPr txBox="1"/>
          <p:nvPr/>
        </p:nvSpPr>
        <p:spPr>
          <a:xfrm>
            <a:off x="7532545" y="2514600"/>
            <a:ext cx="2834640" cy="868680"/>
          </a:xfrm>
          <a:prstGeom prst="roundRect">
            <a:avLst>
              <a:gd name="adj" fmla="val 21053"/>
            </a:avLst>
          </a:prstGeom>
          <a:solidFill>
            <a:schemeClr val="bg1"/>
          </a:solidFill>
          <a:ln w="19050">
            <a:solidFill>
              <a:schemeClr val="accent6"/>
            </a:solidFill>
          </a:ln>
          <a:effectLst>
            <a:outerShdw sx="100000" sy="100000" kx="0" ky="0" algn="bl" rotWithShape="0" blurRad="127000" dist="38100" dir="5400000">
              <a:srgbClr val="4E176B">
                <a:alpha val="12000"/>
              </a:srgbClr>
            </a:outerShdw>
          </a:effectLst>
        </p:spPr>
        <p:txBody>
          <a:bodyPr wrap="square" lIns="635" tIns="635" rIns="635" bIns="635" rtlCol="0" anchor="ctr"/>
          <a:lstStyle/>
          <a:p>
            <a:pPr algn="ctr" indent="0" marL="0">
              <a:buNone/>
            </a:pPr>
            <a:r>
              <a:rPr lang="en-US" sz="1400" b="1" dirty="0">
                <a:solidFill>
                  <a:schemeClr val="tx2"/>
                </a:solidFill>
              </a:rPr>
              <a:t>First purchase</a:t>
            </a:r>
            <a:endParaRPr lang="en-US" sz="1400" dirty="0"/>
          </a:p>
          <a:p>
            <a:pPr algn="ctr" indent="0" marL="0">
              <a:buNone/>
            </a:pPr>
            <a:r>
              <a:rPr lang="en-US" sz="1200" dirty="0">
                <a:solidFill>
                  <a:schemeClr val="tx1"/>
                </a:solidFill>
              </a:rPr>
              <a:t>an entry-price mini or bundle</a:t>
            </a:r>
            <a:endParaRPr lang="en-US" sz="1400" dirty="0"/>
          </a:p>
        </p:txBody>
      </p:sp>
      <p:sp>
        <p:nvSpPr>
          <p:cNvPr id="13" name="Step 3"/>
          <p:cNvSpPr txBox="1"/>
          <p:nvPr/>
        </p:nvSpPr>
        <p:spPr>
          <a:xfrm>
            <a:off x="7532545" y="4297680"/>
            <a:ext cx="2834640" cy="868680"/>
          </a:xfrm>
          <a:prstGeom prst="roundRect">
            <a:avLst>
              <a:gd name="adj" fmla="val 21053"/>
            </a:avLst>
          </a:prstGeom>
          <a:solidFill>
            <a:schemeClr val="bg1"/>
          </a:solidFill>
          <a:ln w="19050">
            <a:solidFill>
              <a:schemeClr val="accent6"/>
            </a:solidFill>
          </a:ln>
          <a:effectLst>
            <a:outerShdw sx="100000" sy="100000" kx="0" ky="0" algn="bl" rotWithShape="0" blurRad="127000" dist="38100" dir="5400000">
              <a:srgbClr val="4E176B">
                <a:alpha val="12000"/>
              </a:srgbClr>
            </a:outerShdw>
          </a:effectLst>
        </p:spPr>
        <p:txBody>
          <a:bodyPr wrap="square" lIns="635" tIns="635" rIns="635" bIns="635" rtlCol="0" anchor="ctr"/>
          <a:lstStyle/>
          <a:p>
            <a:pPr algn="ctr" indent="0" marL="0">
              <a:buNone/>
            </a:pPr>
            <a:r>
              <a:rPr lang="en-US" sz="1400" b="1" dirty="0">
                <a:solidFill>
                  <a:schemeClr val="tx2"/>
                </a:solidFill>
              </a:rPr>
              <a:t>Verifies the pack code</a:t>
            </a:r>
            <a:endParaRPr lang="en-US" sz="1400" dirty="0"/>
          </a:p>
          <a:p>
            <a:pPr algn="ctr" indent="0" marL="0">
              <a:buNone/>
            </a:pPr>
            <a:r>
              <a:rPr lang="en-US" sz="1200" dirty="0">
                <a:solidFill>
                  <a:schemeClr val="tx1"/>
                </a:solidFill>
              </a:rPr>
              <a:t>on WhatsApp; becomes a Member</a:t>
            </a:r>
            <a:endParaRPr lang="en-US" sz="1400" dirty="0"/>
          </a:p>
        </p:txBody>
      </p:sp>
      <p:sp>
        <p:nvSpPr>
          <p:cNvPr id="14" name="Step 4"/>
          <p:cNvSpPr txBox="1"/>
          <p:nvPr/>
        </p:nvSpPr>
        <p:spPr>
          <a:xfrm>
            <a:off x="4681728" y="5189220"/>
            <a:ext cx="2834640" cy="868680"/>
          </a:xfrm>
          <a:prstGeom prst="roundRect">
            <a:avLst>
              <a:gd name="adj" fmla="val 21053"/>
            </a:avLst>
          </a:prstGeom>
          <a:solidFill>
            <a:schemeClr val="bg1"/>
          </a:solidFill>
          <a:ln w="19050">
            <a:solidFill>
              <a:schemeClr val="accent6"/>
            </a:solidFill>
          </a:ln>
          <a:effectLst>
            <a:outerShdw sx="100000" sy="100000" kx="0" ky="0" algn="bl" rotWithShape="0" blurRad="127000" dist="38100" dir="5400000">
              <a:srgbClr val="4E176B">
                <a:alpha val="12000"/>
              </a:srgbClr>
            </a:outerShdw>
          </a:effectLst>
        </p:spPr>
        <p:txBody>
          <a:bodyPr wrap="square" lIns="635" tIns="635" rIns="635" bIns="635" rtlCol="0" anchor="ctr"/>
          <a:lstStyle/>
          <a:p>
            <a:pPr algn="ctr" indent="0" marL="0">
              <a:buNone/>
            </a:pPr>
            <a:r>
              <a:rPr lang="en-US" sz="1400" b="1" dirty="0">
                <a:solidFill>
                  <a:schemeClr val="tx2"/>
                </a:solidFill>
              </a:rPr>
              <a:t>Glow Sessions and rewards</a:t>
            </a:r>
            <a:endParaRPr lang="en-US" sz="1400" dirty="0"/>
          </a:p>
          <a:p>
            <a:pPr algn="ctr" indent="0" marL="0">
              <a:buNone/>
            </a:pPr>
            <a:r>
              <a:rPr lang="en-US" sz="1200" dirty="0">
                <a:solidFill>
                  <a:schemeClr val="tx1"/>
                </a:solidFill>
              </a:rPr>
              <a:t>points, member prices, events</a:t>
            </a:r>
            <a:endParaRPr lang="en-US" sz="1400" dirty="0"/>
          </a:p>
        </p:txBody>
      </p:sp>
      <p:sp>
        <p:nvSpPr>
          <p:cNvPr id="15" name="Step 5"/>
          <p:cNvSpPr txBox="1"/>
          <p:nvPr/>
        </p:nvSpPr>
        <p:spPr>
          <a:xfrm>
            <a:off x="1830911" y="4297680"/>
            <a:ext cx="2834640" cy="868680"/>
          </a:xfrm>
          <a:prstGeom prst="roundRect">
            <a:avLst>
              <a:gd name="adj" fmla="val 21053"/>
            </a:avLst>
          </a:prstGeom>
          <a:solidFill>
            <a:schemeClr val="bg1"/>
          </a:solidFill>
          <a:ln w="19050">
            <a:solidFill>
              <a:schemeClr val="accent6"/>
            </a:solidFill>
          </a:ln>
          <a:effectLst>
            <a:outerShdw sx="100000" sy="100000" kx="0" ky="0" algn="bl" rotWithShape="0" blurRad="127000" dist="38100" dir="5400000">
              <a:srgbClr val="4E176B">
                <a:alpha val="12000"/>
              </a:srgbClr>
            </a:outerShdw>
          </a:effectLst>
        </p:spPr>
        <p:txBody>
          <a:bodyPr wrap="square" lIns="635" tIns="635" rIns="635" bIns="635" rtlCol="0" anchor="ctr"/>
          <a:lstStyle/>
          <a:p>
            <a:pPr algn="ctr" indent="0" marL="0">
              <a:buNone/>
            </a:pPr>
            <a:r>
              <a:rPr lang="en-US" sz="1400" b="1" dirty="0">
                <a:solidFill>
                  <a:schemeClr val="tx2"/>
                </a:solidFill>
              </a:rPr>
              <a:t>Buys again and refers</a:t>
            </a:r>
            <a:endParaRPr lang="en-US" sz="1400" dirty="0"/>
          </a:p>
          <a:p>
            <a:pPr algn="ctr" indent="0" marL="0">
              <a:buNone/>
            </a:pPr>
            <a:r>
              <a:rPr lang="en-US" sz="1200" dirty="0">
                <a:solidFill>
                  <a:schemeClr val="tx1"/>
                </a:solidFill>
              </a:rPr>
              <a:t>₦2,000 credit per friend</a:t>
            </a:r>
            <a:endParaRPr lang="en-US" sz="1400" dirty="0"/>
          </a:p>
        </p:txBody>
      </p:sp>
      <p:sp>
        <p:nvSpPr>
          <p:cNvPr id="16" name="Step 6"/>
          <p:cNvSpPr txBox="1"/>
          <p:nvPr/>
        </p:nvSpPr>
        <p:spPr>
          <a:xfrm>
            <a:off x="1830911" y="2514600"/>
            <a:ext cx="2834640" cy="868680"/>
          </a:xfrm>
          <a:prstGeom prst="roundRect">
            <a:avLst>
              <a:gd name="adj" fmla="val 21053"/>
            </a:avLst>
          </a:prstGeom>
          <a:solidFill>
            <a:schemeClr val="accent4"/>
          </a:solidFill>
          <a:ln w="19050">
            <a:solidFill>
              <a:schemeClr val="accent1"/>
            </a:solidFill>
          </a:ln>
          <a:effectLst>
            <a:outerShdw sx="100000" sy="100000" kx="0" ky="0" algn="bl" rotWithShape="0" blurRad="127000" dist="38100" dir="5400000">
              <a:srgbClr val="4E176B">
                <a:alpha val="12000"/>
              </a:srgbClr>
            </a:outerShdw>
          </a:effectLst>
        </p:spPr>
        <p:txBody>
          <a:bodyPr wrap="square" lIns="635" tIns="635" rIns="635" bIns="635" rtlCol="0" anchor="ctr"/>
          <a:lstStyle/>
          <a:p>
            <a:pPr algn="ctr" indent="0" marL="0">
              <a:buNone/>
            </a:pPr>
            <a:r>
              <a:rPr lang="en-US" sz="1400" b="1" dirty="0">
                <a:solidFill>
                  <a:schemeClr val="tx2"/>
                </a:solidFill>
              </a:rPr>
              <a:t>Sells Cosmo to others</a:t>
            </a:r>
            <a:endParaRPr lang="en-US" sz="1400" dirty="0"/>
          </a:p>
          <a:p>
            <a:pPr algn="ctr" indent="0" marL="0">
              <a:buNone/>
            </a:pPr>
            <a:r>
              <a:rPr lang="en-US" sz="1200" dirty="0">
                <a:solidFill>
                  <a:schemeClr val="tx1"/>
                </a:solidFill>
              </a:rPr>
              <a:t>Ambassador: 10% commission</a:t>
            </a:r>
            <a:endParaRPr lang="en-US" sz="1400" dirty="0"/>
          </a:p>
        </p:txBody>
      </p:sp>
      <p:sp>
        <p:nvSpPr>
          <p:cNvPr id="17" name="Loop label"/>
          <p:cNvSpPr txBox="1"/>
          <p:nvPr/>
        </p:nvSpPr>
        <p:spPr>
          <a:xfrm>
            <a:off x="1234440" y="2011680"/>
            <a:ext cx="2377440" cy="320040"/>
          </a:xfrm>
          <a:prstGeom prst="rect">
            <a:avLst/>
          </a:prstGeom>
          <a:noFill/>
          <a:ln/>
        </p:spPr>
        <p:txBody>
          <a:bodyPr wrap="square" lIns="0" tIns="0" rIns="0" bIns="0" rtlCol="0" anchor="ctr"/>
          <a:lstStyle/>
          <a:p>
            <a:pPr indent="0" marL="0">
              <a:buNone/>
            </a:pPr>
            <a:r>
              <a:rPr lang="en-US" sz="1200" b="1" i="1" dirty="0">
                <a:solidFill>
                  <a:schemeClr val="accent1"/>
                </a:solidFill>
              </a:rPr>
              <a:t>more sellers, more voices</a:t>
            </a:r>
            <a:endParaRPr lang="en-US" sz="12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t"/>
          <a:lstStyle/>
          <a:p>
            <a:pPr algn="l" indent="0" marL="0">
              <a:buNone/>
            </a:pPr>
            <a:r>
              <a:rPr lang="en-US" sz="3200" dirty="0">
                <a:solidFill>
                  <a:schemeClr val="tx1"/>
                </a:solidFill>
              </a:rPr>
              <a:t>Five moves make it work</a:t>
            </a:r>
            <a:endParaRPr lang="en-US" sz="3200" dirty="0"/>
          </a:p>
        </p:txBody>
      </p:sp>
      <p:sp>
        <p:nvSpPr>
          <p:cNvPr id="3" name="Move 1"/>
          <p:cNvSpPr/>
          <p:nvPr/>
        </p:nvSpPr>
        <p:spPr>
          <a:xfrm>
            <a:off x="548640" y="1554480"/>
            <a:ext cx="2066544" cy="3429000"/>
          </a:xfrm>
          <a:prstGeom prst="roundRect">
            <a:avLst>
              <a:gd name="adj" fmla="val 7080"/>
            </a:avLst>
          </a:prstGeom>
          <a:solidFill>
            <a:schemeClr val="accent4"/>
          </a:solidFill>
          <a:ln/>
          <a:effectLst>
            <a:outerShdw sx="100000" sy="100000" kx="0" ky="0" algn="bl" rotWithShape="0" blurRad="127000" dist="38100" dir="5400000">
              <a:srgbClr val="4E176B">
                <a:alpha val="12000"/>
              </a:srgbClr>
            </a:outerShdw>
          </a:effectLst>
        </p:spPr>
      </p:sp>
      <p:sp>
        <p:nvSpPr>
          <p:cNvPr id="4" name="A code in every pack circle"/>
          <p:cNvSpPr/>
          <p:nvPr/>
        </p:nvSpPr>
        <p:spPr>
          <a:xfrm>
            <a:off x="777240" y="1783080"/>
            <a:ext cx="731520" cy="731520"/>
          </a:xfrm>
          <a:prstGeom prst="ellipse">
            <a:avLst/>
          </a:prstGeom>
          <a:solidFill>
            <a:schemeClr val="accent1"/>
          </a:solidFill>
          <a:ln/>
        </p:spPr>
      </p:sp>
      <p:pic>
        <p:nvPicPr>
          <p:cNvPr id="5" name="A code in every pack icon" descr="A code in every pack">    </p:cNvPr>
          <p:cNvPicPr>
            <a:picLocks noChangeAspect="1"/>
          </p:cNvPicPr>
          <p:nvPr/>
        </p:nvPicPr>
        <p:blipFill>
          <a:blip r:embed="rId1"/>
          <a:stretch>
            <a:fillRect/>
          </a:stretch>
        </p:blipFill>
        <p:spPr>
          <a:xfrm>
            <a:off x="960120" y="1965960"/>
            <a:ext cx="365760" cy="365760"/>
          </a:xfrm>
          <a:prstGeom prst="rect">
            <a:avLst/>
          </a:prstGeom>
        </p:spPr>
      </p:pic>
      <p:sp>
        <p:nvSpPr>
          <p:cNvPr id="6" name="Text 3"/>
          <p:cNvSpPr txBox="1"/>
          <p:nvPr/>
        </p:nvSpPr>
        <p:spPr>
          <a:xfrm>
            <a:off x="2057400" y="1783080"/>
            <a:ext cx="365760" cy="457200"/>
          </a:xfrm>
          <a:prstGeom prst="rect">
            <a:avLst/>
          </a:prstGeom>
          <a:noFill/>
          <a:ln/>
        </p:spPr>
        <p:txBody>
          <a:bodyPr wrap="square" lIns="0" tIns="0" rIns="0" bIns="0" rtlCol="0" anchor="ctr"/>
          <a:lstStyle/>
          <a:p>
            <a:pPr algn="r" indent="0" marL="0">
              <a:buNone/>
            </a:pPr>
            <a:r>
              <a:rPr lang="en-US" sz="2600" dirty="0">
                <a:solidFill>
                  <a:schemeClr val="accent1"/>
                </a:solidFill>
                <a:latin typeface="Georgia" pitchFamily="34" charset="0"/>
                <a:ea typeface="Georgia" pitchFamily="34" charset="-122"/>
                <a:cs typeface="Georgia" pitchFamily="34" charset="-120"/>
              </a:rPr>
              <a:t>1</a:t>
            </a:r>
            <a:endParaRPr lang="en-US" sz="2600" dirty="0"/>
          </a:p>
        </p:txBody>
      </p:sp>
      <p:sp>
        <p:nvSpPr>
          <p:cNvPr id="7" name="Text 4"/>
          <p:cNvSpPr txBox="1"/>
          <p:nvPr/>
        </p:nvSpPr>
        <p:spPr>
          <a:xfrm>
            <a:off x="777240" y="2697480"/>
            <a:ext cx="1691640" cy="777240"/>
          </a:xfrm>
          <a:prstGeom prst="rect">
            <a:avLst/>
          </a:prstGeom>
          <a:noFill/>
          <a:ln/>
        </p:spPr>
        <p:txBody>
          <a:bodyPr wrap="square" lIns="0" tIns="0" rIns="0" bIns="0" rtlCol="0" anchor="t"/>
          <a:lstStyle/>
          <a:p>
            <a:pPr indent="0" marL="0">
              <a:buNone/>
            </a:pPr>
            <a:r>
              <a:rPr lang="en-US" sz="1600" b="1" dirty="0">
                <a:solidFill>
                  <a:schemeClr val="tx2"/>
                </a:solidFill>
              </a:rPr>
              <a:t>A code in every pack</a:t>
            </a:r>
            <a:endParaRPr lang="en-US" sz="1600" dirty="0"/>
          </a:p>
        </p:txBody>
      </p:sp>
      <p:sp>
        <p:nvSpPr>
          <p:cNvPr id="8" name="Text 5"/>
          <p:cNvSpPr txBox="1"/>
          <p:nvPr/>
        </p:nvSpPr>
        <p:spPr>
          <a:xfrm>
            <a:off x="777240" y="3520440"/>
            <a:ext cx="1691640" cy="1325880"/>
          </a:xfrm>
          <a:prstGeom prst="rect">
            <a:avLst/>
          </a:prstGeom>
          <a:noFill/>
          <a:ln/>
        </p:spPr>
        <p:txBody>
          <a:bodyPr wrap="square" lIns="0" tIns="0" rIns="0" bIns="0" rtlCol="0" anchor="t"/>
          <a:lstStyle/>
          <a:p>
            <a:pPr indent="0" marL="0">
              <a:buNone/>
            </a:pPr>
            <a:r>
              <a:rPr lang="en-US" sz="1300" dirty="0">
                <a:solidFill>
                  <a:schemeClr val="tx1"/>
                </a:solidFill>
              </a:rPr>
              <a:t>Scratch-code stickers applied at GVS's warehouse. Buyers verify on WhatsApp, earn points and join.</a:t>
            </a:r>
            <a:endParaRPr lang="en-US" sz="1300" dirty="0"/>
          </a:p>
        </p:txBody>
      </p:sp>
      <p:sp>
        <p:nvSpPr>
          <p:cNvPr id="9" name="Move 2"/>
          <p:cNvSpPr/>
          <p:nvPr/>
        </p:nvSpPr>
        <p:spPr>
          <a:xfrm>
            <a:off x="2798064" y="1554480"/>
            <a:ext cx="2066544" cy="3429000"/>
          </a:xfrm>
          <a:prstGeom prst="roundRect">
            <a:avLst>
              <a:gd name="adj" fmla="val 7080"/>
            </a:avLst>
          </a:prstGeom>
          <a:solidFill>
            <a:schemeClr val="bg2"/>
          </a:solidFill>
          <a:ln/>
          <a:effectLst>
            <a:outerShdw sx="100000" sy="100000" kx="0" ky="0" algn="bl" rotWithShape="0" blurRad="127000" dist="38100" dir="5400000">
              <a:srgbClr val="4E176B">
                <a:alpha val="12000"/>
              </a:srgbClr>
            </a:outerShdw>
          </a:effectLst>
        </p:spPr>
      </p:sp>
      <p:sp>
        <p:nvSpPr>
          <p:cNvPr id="10" name="Three membership tiers circle"/>
          <p:cNvSpPr/>
          <p:nvPr/>
        </p:nvSpPr>
        <p:spPr>
          <a:xfrm>
            <a:off x="3026664" y="1783080"/>
            <a:ext cx="731520" cy="731520"/>
          </a:xfrm>
          <a:prstGeom prst="ellipse">
            <a:avLst/>
          </a:prstGeom>
          <a:solidFill>
            <a:schemeClr val="tx2"/>
          </a:solidFill>
          <a:ln/>
        </p:spPr>
      </p:sp>
      <p:pic>
        <p:nvPicPr>
          <p:cNvPr id="11" name="Three membership tiers icon" descr="Three membership tiers">    </p:cNvPr>
          <p:cNvPicPr>
            <a:picLocks noChangeAspect="1"/>
          </p:cNvPicPr>
          <p:nvPr/>
        </p:nvPicPr>
        <p:blipFill>
          <a:blip r:embed="rId2"/>
          <a:stretch>
            <a:fillRect/>
          </a:stretch>
        </p:blipFill>
        <p:spPr>
          <a:xfrm>
            <a:off x="3209544" y="1965960"/>
            <a:ext cx="365760" cy="365760"/>
          </a:xfrm>
          <a:prstGeom prst="rect">
            <a:avLst/>
          </a:prstGeom>
        </p:spPr>
      </p:pic>
      <p:sp>
        <p:nvSpPr>
          <p:cNvPr id="12" name="Text 8"/>
          <p:cNvSpPr txBox="1"/>
          <p:nvPr/>
        </p:nvSpPr>
        <p:spPr>
          <a:xfrm>
            <a:off x="4306824" y="1783080"/>
            <a:ext cx="365760" cy="457200"/>
          </a:xfrm>
          <a:prstGeom prst="rect">
            <a:avLst/>
          </a:prstGeom>
          <a:noFill/>
          <a:ln/>
        </p:spPr>
        <p:txBody>
          <a:bodyPr wrap="square" lIns="0" tIns="0" rIns="0" bIns="0" rtlCol="0" anchor="ctr"/>
          <a:lstStyle/>
          <a:p>
            <a:pPr algn="r" indent="0" marL="0">
              <a:buNone/>
            </a:pPr>
            <a:r>
              <a:rPr lang="en-US" sz="2600" dirty="0">
                <a:solidFill>
                  <a:schemeClr val="accent1"/>
                </a:solidFill>
                <a:latin typeface="Georgia" pitchFamily="34" charset="0"/>
                <a:ea typeface="Georgia" pitchFamily="34" charset="-122"/>
                <a:cs typeface="Georgia" pitchFamily="34" charset="-120"/>
              </a:rPr>
              <a:t>2</a:t>
            </a:r>
            <a:endParaRPr lang="en-US" sz="2600" dirty="0"/>
          </a:p>
        </p:txBody>
      </p:sp>
      <p:sp>
        <p:nvSpPr>
          <p:cNvPr id="13" name="Text 9"/>
          <p:cNvSpPr txBox="1"/>
          <p:nvPr/>
        </p:nvSpPr>
        <p:spPr>
          <a:xfrm>
            <a:off x="3026664" y="2697480"/>
            <a:ext cx="1691640" cy="777240"/>
          </a:xfrm>
          <a:prstGeom prst="rect">
            <a:avLst/>
          </a:prstGeom>
          <a:noFill/>
          <a:ln/>
        </p:spPr>
        <p:txBody>
          <a:bodyPr wrap="square" lIns="0" tIns="0" rIns="0" bIns="0" rtlCol="0" anchor="t"/>
          <a:lstStyle/>
          <a:p>
            <a:pPr indent="0" marL="0">
              <a:buNone/>
            </a:pPr>
            <a:r>
              <a:rPr lang="en-US" sz="1600" b="1" dirty="0">
                <a:solidFill>
                  <a:schemeClr val="tx2"/>
                </a:solidFill>
              </a:rPr>
              <a:t>Three membership tiers</a:t>
            </a:r>
            <a:endParaRPr lang="en-US" sz="1600" dirty="0"/>
          </a:p>
        </p:txBody>
      </p:sp>
      <p:sp>
        <p:nvSpPr>
          <p:cNvPr id="14" name="Text 10"/>
          <p:cNvSpPr txBox="1"/>
          <p:nvPr/>
        </p:nvSpPr>
        <p:spPr>
          <a:xfrm>
            <a:off x="3026664" y="3520440"/>
            <a:ext cx="1691640" cy="1325880"/>
          </a:xfrm>
          <a:prstGeom prst="rect">
            <a:avLst/>
          </a:prstGeom>
          <a:noFill/>
          <a:ln/>
        </p:spPr>
        <p:txBody>
          <a:bodyPr wrap="square" lIns="0" tIns="0" rIns="0" bIns="0" rtlCol="0" anchor="t"/>
          <a:lstStyle/>
          <a:p>
            <a:pPr indent="0" marL="0">
              <a:buNone/>
            </a:pPr>
            <a:r>
              <a:rPr lang="en-US" sz="1300" dirty="0">
                <a:solidFill>
                  <a:schemeClr val="tx1"/>
                </a:solidFill>
              </a:rPr>
              <a:t>Member, Insider, Ambassador: there is always a next level worth reaching.</a:t>
            </a:r>
            <a:endParaRPr lang="en-US" sz="1300" dirty="0"/>
          </a:p>
        </p:txBody>
      </p:sp>
      <p:sp>
        <p:nvSpPr>
          <p:cNvPr id="15" name="Move 3"/>
          <p:cNvSpPr/>
          <p:nvPr/>
        </p:nvSpPr>
        <p:spPr>
          <a:xfrm>
            <a:off x="5047488" y="1554480"/>
            <a:ext cx="2066544" cy="3429000"/>
          </a:xfrm>
          <a:prstGeom prst="roundRect">
            <a:avLst>
              <a:gd name="adj" fmla="val 7080"/>
            </a:avLst>
          </a:prstGeom>
          <a:solidFill>
            <a:schemeClr val="accent4"/>
          </a:solidFill>
          <a:ln/>
          <a:effectLst>
            <a:outerShdw sx="100000" sy="100000" kx="0" ky="0" algn="bl" rotWithShape="0" blurRad="127000" dist="38100" dir="5400000">
              <a:srgbClr val="4E176B">
                <a:alpha val="12000"/>
              </a:srgbClr>
            </a:outerShdw>
          </a:effectLst>
        </p:spPr>
      </p:sp>
      <p:sp>
        <p:nvSpPr>
          <p:cNvPr id="16" name="Glow Sessions circle"/>
          <p:cNvSpPr/>
          <p:nvPr/>
        </p:nvSpPr>
        <p:spPr>
          <a:xfrm>
            <a:off x="5276088" y="1783080"/>
            <a:ext cx="731520" cy="731520"/>
          </a:xfrm>
          <a:prstGeom prst="ellipse">
            <a:avLst/>
          </a:prstGeom>
          <a:solidFill>
            <a:schemeClr val="tx2"/>
          </a:solidFill>
          <a:ln/>
        </p:spPr>
      </p:sp>
      <p:pic>
        <p:nvPicPr>
          <p:cNvPr id="17" name="Glow Sessions icon" descr="Glow Sessions">    </p:cNvPr>
          <p:cNvPicPr>
            <a:picLocks noChangeAspect="1"/>
          </p:cNvPicPr>
          <p:nvPr/>
        </p:nvPicPr>
        <p:blipFill>
          <a:blip r:embed="rId3"/>
          <a:stretch>
            <a:fillRect/>
          </a:stretch>
        </p:blipFill>
        <p:spPr>
          <a:xfrm>
            <a:off x="5458968" y="1965960"/>
            <a:ext cx="365760" cy="365760"/>
          </a:xfrm>
          <a:prstGeom prst="rect">
            <a:avLst/>
          </a:prstGeom>
        </p:spPr>
      </p:pic>
      <p:sp>
        <p:nvSpPr>
          <p:cNvPr id="18" name="Text 13"/>
          <p:cNvSpPr txBox="1"/>
          <p:nvPr/>
        </p:nvSpPr>
        <p:spPr>
          <a:xfrm>
            <a:off x="6556248" y="1783080"/>
            <a:ext cx="365760" cy="457200"/>
          </a:xfrm>
          <a:prstGeom prst="rect">
            <a:avLst/>
          </a:prstGeom>
          <a:noFill/>
          <a:ln/>
        </p:spPr>
        <p:txBody>
          <a:bodyPr wrap="square" lIns="0" tIns="0" rIns="0" bIns="0" rtlCol="0" anchor="ctr"/>
          <a:lstStyle/>
          <a:p>
            <a:pPr algn="r" indent="0" marL="0">
              <a:buNone/>
            </a:pPr>
            <a:r>
              <a:rPr lang="en-US" sz="2600" dirty="0">
                <a:solidFill>
                  <a:schemeClr val="accent1"/>
                </a:solidFill>
                <a:latin typeface="Georgia" pitchFamily="34" charset="0"/>
                <a:ea typeface="Georgia" pitchFamily="34" charset="-122"/>
                <a:cs typeface="Georgia" pitchFamily="34" charset="-120"/>
              </a:rPr>
              <a:t>3</a:t>
            </a:r>
            <a:endParaRPr lang="en-US" sz="2600" dirty="0"/>
          </a:p>
        </p:txBody>
      </p:sp>
      <p:sp>
        <p:nvSpPr>
          <p:cNvPr id="19" name="Text 14"/>
          <p:cNvSpPr txBox="1"/>
          <p:nvPr/>
        </p:nvSpPr>
        <p:spPr>
          <a:xfrm>
            <a:off x="5276088" y="2697480"/>
            <a:ext cx="1691640" cy="777240"/>
          </a:xfrm>
          <a:prstGeom prst="rect">
            <a:avLst/>
          </a:prstGeom>
          <a:noFill/>
          <a:ln/>
        </p:spPr>
        <p:txBody>
          <a:bodyPr wrap="square" lIns="0" tIns="0" rIns="0" bIns="0" rtlCol="0" anchor="t"/>
          <a:lstStyle/>
          <a:p>
            <a:pPr indent="0" marL="0">
              <a:buNone/>
            </a:pPr>
            <a:r>
              <a:rPr lang="en-US" sz="1600" b="1" dirty="0">
                <a:solidFill>
                  <a:schemeClr val="tx2"/>
                </a:solidFill>
              </a:rPr>
              <a:t>Glow Sessions</a:t>
            </a:r>
            <a:endParaRPr lang="en-US" sz="1600" dirty="0"/>
          </a:p>
        </p:txBody>
      </p:sp>
      <p:sp>
        <p:nvSpPr>
          <p:cNvPr id="20" name="Text 15"/>
          <p:cNvSpPr txBox="1"/>
          <p:nvPr/>
        </p:nvSpPr>
        <p:spPr>
          <a:xfrm>
            <a:off x="5276088" y="3520440"/>
            <a:ext cx="1691640" cy="1325880"/>
          </a:xfrm>
          <a:prstGeom prst="rect">
            <a:avLst/>
          </a:prstGeom>
          <a:noFill/>
          <a:ln/>
        </p:spPr>
        <p:txBody>
          <a:bodyPr wrap="square" lIns="0" tIns="0" rIns="0" bIns="0" rtlCol="0" anchor="t"/>
          <a:lstStyle/>
          <a:p>
            <a:pPr indent="0" marL="0">
              <a:buNone/>
            </a:pPr>
            <a:r>
              <a:rPr lang="en-US" sz="1300" dirty="0">
                <a:solidFill>
                  <a:schemeClr val="tx1"/>
                </a:solidFill>
              </a:rPr>
              <a:t>Monthly meet-ups of 40–60 with a dermatologist. ₦5,000 tickets come back as product vouchers.</a:t>
            </a:r>
            <a:endParaRPr lang="en-US" sz="1300" dirty="0"/>
          </a:p>
        </p:txBody>
      </p:sp>
      <p:sp>
        <p:nvSpPr>
          <p:cNvPr id="21" name="Move 4"/>
          <p:cNvSpPr/>
          <p:nvPr/>
        </p:nvSpPr>
        <p:spPr>
          <a:xfrm>
            <a:off x="7296912" y="1554480"/>
            <a:ext cx="2066544" cy="3429000"/>
          </a:xfrm>
          <a:prstGeom prst="roundRect">
            <a:avLst>
              <a:gd name="adj" fmla="val 7080"/>
            </a:avLst>
          </a:prstGeom>
          <a:solidFill>
            <a:schemeClr val="bg2"/>
          </a:solidFill>
          <a:ln/>
          <a:effectLst>
            <a:outerShdw sx="100000" sy="100000" kx="0" ky="0" algn="bl" rotWithShape="0" blurRad="127000" dist="38100" dir="5400000">
              <a:srgbClr val="4E176B">
                <a:alpha val="12000"/>
              </a:srgbClr>
            </a:outerShdw>
          </a:effectLst>
        </p:spPr>
      </p:sp>
      <p:sp>
        <p:nvSpPr>
          <p:cNvPr id="22" name="Creators paid on sales circle"/>
          <p:cNvSpPr/>
          <p:nvPr/>
        </p:nvSpPr>
        <p:spPr>
          <a:xfrm>
            <a:off x="7525512" y="1783080"/>
            <a:ext cx="731520" cy="731520"/>
          </a:xfrm>
          <a:prstGeom prst="ellipse">
            <a:avLst/>
          </a:prstGeom>
          <a:solidFill>
            <a:schemeClr val="tx2"/>
          </a:solidFill>
          <a:ln/>
        </p:spPr>
      </p:sp>
      <p:pic>
        <p:nvPicPr>
          <p:cNvPr id="23" name="Creators paid on sales icon" descr="Creators paid on sales">    </p:cNvPr>
          <p:cNvPicPr>
            <a:picLocks noChangeAspect="1"/>
          </p:cNvPicPr>
          <p:nvPr/>
        </p:nvPicPr>
        <p:blipFill>
          <a:blip r:embed="rId4"/>
          <a:stretch>
            <a:fillRect/>
          </a:stretch>
        </p:blipFill>
        <p:spPr>
          <a:xfrm>
            <a:off x="7708392" y="1965960"/>
            <a:ext cx="365760" cy="365760"/>
          </a:xfrm>
          <a:prstGeom prst="rect">
            <a:avLst/>
          </a:prstGeom>
        </p:spPr>
      </p:pic>
      <p:sp>
        <p:nvSpPr>
          <p:cNvPr id="24" name="Text 18"/>
          <p:cNvSpPr txBox="1"/>
          <p:nvPr/>
        </p:nvSpPr>
        <p:spPr>
          <a:xfrm>
            <a:off x="8805672" y="1783080"/>
            <a:ext cx="365760" cy="457200"/>
          </a:xfrm>
          <a:prstGeom prst="rect">
            <a:avLst/>
          </a:prstGeom>
          <a:noFill/>
          <a:ln/>
        </p:spPr>
        <p:txBody>
          <a:bodyPr wrap="square" lIns="0" tIns="0" rIns="0" bIns="0" rtlCol="0" anchor="ctr"/>
          <a:lstStyle/>
          <a:p>
            <a:pPr algn="r" indent="0" marL="0">
              <a:buNone/>
            </a:pPr>
            <a:r>
              <a:rPr lang="en-US" sz="2600" dirty="0">
                <a:solidFill>
                  <a:schemeClr val="accent1"/>
                </a:solidFill>
                <a:latin typeface="Georgia" pitchFamily="34" charset="0"/>
                <a:ea typeface="Georgia" pitchFamily="34" charset="-122"/>
                <a:cs typeface="Georgia" pitchFamily="34" charset="-120"/>
              </a:rPr>
              <a:t>4</a:t>
            </a:r>
            <a:endParaRPr lang="en-US" sz="2600" dirty="0"/>
          </a:p>
        </p:txBody>
      </p:sp>
      <p:sp>
        <p:nvSpPr>
          <p:cNvPr id="25" name="Text 19"/>
          <p:cNvSpPr txBox="1"/>
          <p:nvPr/>
        </p:nvSpPr>
        <p:spPr>
          <a:xfrm>
            <a:off x="7525512" y="2697480"/>
            <a:ext cx="1691640" cy="777240"/>
          </a:xfrm>
          <a:prstGeom prst="rect">
            <a:avLst/>
          </a:prstGeom>
          <a:noFill/>
          <a:ln/>
        </p:spPr>
        <p:txBody>
          <a:bodyPr wrap="square" lIns="0" tIns="0" rIns="0" bIns="0" rtlCol="0" anchor="t"/>
          <a:lstStyle/>
          <a:p>
            <a:pPr indent="0" marL="0">
              <a:buNone/>
            </a:pPr>
            <a:r>
              <a:rPr lang="en-US" sz="1600" b="1" dirty="0">
                <a:solidFill>
                  <a:schemeClr val="tx2"/>
                </a:solidFill>
              </a:rPr>
              <a:t>Creators paid on sales</a:t>
            </a:r>
            <a:endParaRPr lang="en-US" sz="1600" dirty="0"/>
          </a:p>
        </p:txBody>
      </p:sp>
      <p:sp>
        <p:nvSpPr>
          <p:cNvPr id="26" name="Text 20"/>
          <p:cNvSpPr txBox="1"/>
          <p:nvPr/>
        </p:nvSpPr>
        <p:spPr>
          <a:xfrm>
            <a:off x="7525512" y="3520440"/>
            <a:ext cx="1691640" cy="1325880"/>
          </a:xfrm>
          <a:prstGeom prst="rect">
            <a:avLst/>
          </a:prstGeom>
          <a:noFill/>
          <a:ln/>
        </p:spPr>
        <p:txBody>
          <a:bodyPr wrap="square" lIns="0" tIns="0" rIns="0" bIns="0" rtlCol="0" anchor="t"/>
          <a:lstStyle/>
          <a:p>
            <a:pPr indent="0" marL="0">
              <a:buNone/>
            </a:pPr>
            <a:r>
              <a:rPr lang="en-US" sz="1300" dirty="0">
                <a:solidFill>
                  <a:schemeClr val="tx1"/>
                </a:solidFill>
              </a:rPr>
              <a:t>20–25 micro creators a month, each with a code. Base fee plus commission; keep the top third.</a:t>
            </a:r>
            <a:endParaRPr lang="en-US" sz="1300" dirty="0"/>
          </a:p>
        </p:txBody>
      </p:sp>
      <p:sp>
        <p:nvSpPr>
          <p:cNvPr id="27" name="Move 5"/>
          <p:cNvSpPr/>
          <p:nvPr/>
        </p:nvSpPr>
        <p:spPr>
          <a:xfrm>
            <a:off x="9546336" y="1554480"/>
            <a:ext cx="2066544" cy="3429000"/>
          </a:xfrm>
          <a:prstGeom prst="roundRect">
            <a:avLst>
              <a:gd name="adj" fmla="val 7080"/>
            </a:avLst>
          </a:prstGeom>
          <a:solidFill>
            <a:schemeClr val="accent4"/>
          </a:solidFill>
          <a:ln/>
          <a:effectLst>
            <a:outerShdw sx="100000" sy="100000" kx="0" ky="0" algn="bl" rotWithShape="0" blurRad="127000" dist="38100" dir="5400000">
              <a:srgbClr val="4E176B">
                <a:alpha val="12000"/>
              </a:srgbClr>
            </a:outerShdw>
          </a:effectLst>
        </p:spPr>
      </p:sp>
      <p:sp>
        <p:nvSpPr>
          <p:cNvPr id="28" name="Members who sell circle"/>
          <p:cNvSpPr/>
          <p:nvPr/>
        </p:nvSpPr>
        <p:spPr>
          <a:xfrm>
            <a:off x="9774936" y="1783080"/>
            <a:ext cx="731520" cy="731520"/>
          </a:xfrm>
          <a:prstGeom prst="ellipse">
            <a:avLst/>
          </a:prstGeom>
          <a:solidFill>
            <a:schemeClr val="tx2"/>
          </a:solidFill>
          <a:ln/>
        </p:spPr>
      </p:sp>
      <p:pic>
        <p:nvPicPr>
          <p:cNvPr id="29" name="Members who sell icon" descr="Members who sell">    </p:cNvPr>
          <p:cNvPicPr>
            <a:picLocks noChangeAspect="1"/>
          </p:cNvPicPr>
          <p:nvPr/>
        </p:nvPicPr>
        <p:blipFill>
          <a:blip r:embed="rId5"/>
          <a:stretch>
            <a:fillRect/>
          </a:stretch>
        </p:blipFill>
        <p:spPr>
          <a:xfrm>
            <a:off x="9957816" y="1965960"/>
            <a:ext cx="365760" cy="365760"/>
          </a:xfrm>
          <a:prstGeom prst="rect">
            <a:avLst/>
          </a:prstGeom>
        </p:spPr>
      </p:pic>
      <p:sp>
        <p:nvSpPr>
          <p:cNvPr id="30" name="Text 23"/>
          <p:cNvSpPr txBox="1"/>
          <p:nvPr/>
        </p:nvSpPr>
        <p:spPr>
          <a:xfrm>
            <a:off x="11055096" y="1783080"/>
            <a:ext cx="365760" cy="457200"/>
          </a:xfrm>
          <a:prstGeom prst="rect">
            <a:avLst/>
          </a:prstGeom>
          <a:noFill/>
          <a:ln/>
        </p:spPr>
        <p:txBody>
          <a:bodyPr wrap="square" lIns="0" tIns="0" rIns="0" bIns="0" rtlCol="0" anchor="ctr"/>
          <a:lstStyle/>
          <a:p>
            <a:pPr algn="r" indent="0" marL="0">
              <a:buNone/>
            </a:pPr>
            <a:r>
              <a:rPr lang="en-US" sz="2600" dirty="0">
                <a:solidFill>
                  <a:schemeClr val="accent1"/>
                </a:solidFill>
                <a:latin typeface="Georgia" pitchFamily="34" charset="0"/>
                <a:ea typeface="Georgia" pitchFamily="34" charset="-122"/>
                <a:cs typeface="Georgia" pitchFamily="34" charset="-120"/>
              </a:rPr>
              <a:t>5</a:t>
            </a:r>
            <a:endParaRPr lang="en-US" sz="2600" dirty="0"/>
          </a:p>
        </p:txBody>
      </p:sp>
      <p:sp>
        <p:nvSpPr>
          <p:cNvPr id="31" name="Text 24"/>
          <p:cNvSpPr txBox="1"/>
          <p:nvPr/>
        </p:nvSpPr>
        <p:spPr>
          <a:xfrm>
            <a:off x="9774936" y="2697480"/>
            <a:ext cx="1691640" cy="777240"/>
          </a:xfrm>
          <a:prstGeom prst="rect">
            <a:avLst/>
          </a:prstGeom>
          <a:noFill/>
          <a:ln/>
        </p:spPr>
        <p:txBody>
          <a:bodyPr wrap="square" lIns="0" tIns="0" rIns="0" bIns="0" rtlCol="0" anchor="t"/>
          <a:lstStyle/>
          <a:p>
            <a:pPr indent="0" marL="0">
              <a:buNone/>
            </a:pPr>
            <a:r>
              <a:rPr lang="en-US" sz="1600" b="1" dirty="0">
                <a:solidFill>
                  <a:schemeClr val="tx2"/>
                </a:solidFill>
              </a:rPr>
              <a:t>Members who sell</a:t>
            </a:r>
            <a:endParaRPr lang="en-US" sz="1600" dirty="0"/>
          </a:p>
        </p:txBody>
      </p:sp>
      <p:sp>
        <p:nvSpPr>
          <p:cNvPr id="32" name="Text 25"/>
          <p:cNvSpPr txBox="1"/>
          <p:nvPr/>
        </p:nvSpPr>
        <p:spPr>
          <a:xfrm>
            <a:off x="9774936" y="3520440"/>
            <a:ext cx="1691640" cy="1325880"/>
          </a:xfrm>
          <a:prstGeom prst="rect">
            <a:avLst/>
          </a:prstGeom>
          <a:noFill/>
          <a:ln/>
        </p:spPr>
        <p:txBody>
          <a:bodyPr wrap="square" lIns="0" tIns="0" rIns="0" bIns="0" rtlCol="0" anchor="t"/>
          <a:lstStyle/>
          <a:p>
            <a:pPr indent="0" marL="0">
              <a:buNone/>
            </a:pPr>
            <a:r>
              <a:rPr lang="en-US" sz="1300" dirty="0">
                <a:solidFill>
                  <a:schemeClr val="tx1"/>
                </a:solidFill>
              </a:rPr>
              <a:t>Ambassadors earn 10% commission; the best become verified resellers, listed publicly.</a:t>
            </a:r>
            <a:endParaRPr lang="en-US" sz="1300" dirty="0"/>
          </a:p>
        </p:txBody>
      </p:sp>
      <p:sp>
        <p:nvSpPr>
          <p:cNvPr id="33" name="Positioning"/>
          <p:cNvSpPr/>
          <p:nvPr/>
        </p:nvSpPr>
        <p:spPr>
          <a:xfrm>
            <a:off x="548640" y="5166360"/>
            <a:ext cx="11064240" cy="731520"/>
          </a:xfrm>
          <a:prstGeom prst="roundRect">
            <a:avLst>
              <a:gd name="adj" fmla="val 20000"/>
            </a:avLst>
          </a:prstGeom>
          <a:solidFill>
            <a:schemeClr val="tx2"/>
          </a:solidFill>
          <a:ln/>
          <a:effectLst>
            <a:outerShdw sx="100000" sy="100000" kx="0" ky="0" algn="bl" rotWithShape="0" blurRad="127000" dist="38100" dir="5400000">
              <a:srgbClr val="4E176B">
                <a:alpha val="12000"/>
              </a:srgbClr>
            </a:outerShdw>
          </a:effectLst>
        </p:spPr>
      </p:sp>
      <p:sp>
        <p:nvSpPr>
          <p:cNvPr id="34" name="Positioning text"/>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1500" b="1" dirty="0">
                <a:solidFill>
                  <a:schemeClr val="accent3"/>
                </a:solidFill>
              </a:rPr>
              <a:t>Positioning:  </a:t>
            </a:r>
            <a:pPr indent="0" marL="0">
              <a:buNone/>
            </a:pPr>
            <a:r>
              <a:rPr lang="en-US" sz="1500" dirty="0">
                <a:solidFill>
                  <a:schemeClr val="bg1"/>
                </a:solidFill>
              </a:rPr>
              <a:t>verified original, from a certified factory, proven on Nigerian skin. Healthy, even skin; never lighter skin.</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t"/>
          <a:lstStyle/>
          <a:p>
            <a:pPr algn="l" indent="0" marL="0">
              <a:buNone/>
            </a:pPr>
            <a:r>
              <a:rPr lang="en-US" sz="3200" dirty="0">
                <a:solidFill>
                  <a:schemeClr val="tx1"/>
                </a:solidFill>
              </a:rPr>
              <a:t>Three tiers: always a next level to reach</a:t>
            </a:r>
            <a:endParaRPr lang="en-US" sz="3200" dirty="0"/>
          </a:p>
        </p:txBody>
      </p:sp>
      <p:sp>
        <p:nvSpPr>
          <p:cNvPr id="3" name="Member tier"/>
          <p:cNvSpPr/>
          <p:nvPr/>
        </p:nvSpPr>
        <p:spPr>
          <a:xfrm>
            <a:off x="548640" y="1508760"/>
            <a:ext cx="3520440" cy="4343400"/>
          </a:xfrm>
          <a:prstGeom prst="roundRect">
            <a:avLst>
              <a:gd name="adj" fmla="val 4156"/>
            </a:avLst>
          </a:prstGeom>
          <a:solidFill>
            <a:schemeClr val="bg1"/>
          </a:solidFill>
          <a:ln/>
          <a:effectLst>
            <a:outerShdw sx="100000" sy="100000" kx="0" ky="0" algn="bl" rotWithShape="0" blurRad="127000" dist="38100" dir="5400000">
              <a:srgbClr val="4E176B">
                <a:alpha val="12000"/>
              </a:srgbClr>
            </a:outerShdw>
          </a:effectLst>
        </p:spPr>
      </p:sp>
      <p:sp>
        <p:nvSpPr>
          <p:cNvPr id="4" name="Text 2"/>
          <p:cNvSpPr txBox="1"/>
          <p:nvPr/>
        </p:nvSpPr>
        <p:spPr>
          <a:xfrm>
            <a:off x="822960" y="1691640"/>
            <a:ext cx="2971800" cy="548640"/>
          </a:xfrm>
          <a:prstGeom prst="rect">
            <a:avLst/>
          </a:prstGeom>
          <a:noFill/>
          <a:ln/>
        </p:spPr>
        <p:txBody>
          <a:bodyPr wrap="square" lIns="0" tIns="0" rIns="0" bIns="0" rtlCol="0" anchor="ctr"/>
          <a:lstStyle/>
          <a:p>
            <a:pPr indent="0" marL="0">
              <a:buNone/>
            </a:pPr>
            <a:r>
              <a:rPr lang="en-US" sz="2600" dirty="0">
                <a:solidFill>
                  <a:schemeClr val="tx2"/>
                </a:solidFill>
                <a:latin typeface="Georgia" pitchFamily="34" charset="0"/>
                <a:ea typeface="Georgia" pitchFamily="34" charset="-122"/>
                <a:cs typeface="Georgia" pitchFamily="34" charset="-120"/>
              </a:rPr>
              <a:t>Member</a:t>
            </a:r>
            <a:endParaRPr lang="en-US" sz="2600" dirty="0"/>
          </a:p>
        </p:txBody>
      </p:sp>
      <p:sp>
        <p:nvSpPr>
          <p:cNvPr id="5" name="Text 3"/>
          <p:cNvSpPr txBox="1"/>
          <p:nvPr/>
        </p:nvSpPr>
        <p:spPr>
          <a:xfrm>
            <a:off x="822960" y="2240280"/>
            <a:ext cx="2971800" cy="548640"/>
          </a:xfrm>
          <a:prstGeom prst="rect">
            <a:avLst/>
          </a:prstGeom>
          <a:noFill/>
          <a:ln/>
        </p:spPr>
        <p:txBody>
          <a:bodyPr wrap="square" lIns="0" tIns="0" rIns="0" bIns="0" rtlCol="0" anchor="t"/>
          <a:lstStyle/>
          <a:p>
            <a:pPr indent="0" marL="0">
              <a:buNone/>
            </a:pPr>
            <a:r>
              <a:rPr lang="en-US" sz="1300" i="1" dirty="0">
                <a:solidFill>
                  <a:schemeClr val="tx1"/>
                </a:solidFill>
              </a:rPr>
              <a:t>Any buyer who verifies a pack code</a:t>
            </a:r>
            <a:endParaRPr lang="en-US" sz="1300" dirty="0"/>
          </a:p>
        </p:txBody>
      </p:sp>
      <p:sp>
        <p:nvSpPr>
          <p:cNvPr id="6" name="Text 4"/>
          <p:cNvSpPr txBox="1"/>
          <p:nvPr/>
        </p:nvSpPr>
        <p:spPr>
          <a:xfrm>
            <a:off x="822960" y="2834640"/>
            <a:ext cx="297180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5% back in points</a:t>
            </a:r>
            <a:endParaRPr lang="en-US" sz="1400" dirty="0"/>
          </a:p>
          <a:p>
            <a:pPr marL="342900" indent="-342900">
              <a:spcAft>
                <a:spcPts val="600"/>
              </a:spcAft>
              <a:buSzPct val="100000"/>
              <a:buChar char="•"/>
            </a:pPr>
            <a:r>
              <a:rPr lang="en-US" sz="1400" dirty="0">
                <a:solidFill>
                  <a:schemeClr val="tx1"/>
                </a:solidFill>
              </a:rPr>
              <a:t>Member bundle prices</a:t>
            </a:r>
            <a:endParaRPr lang="en-US" sz="1400" dirty="0"/>
          </a:p>
          <a:p>
            <a:pPr marL="342900" indent="-342900">
              <a:spcAft>
                <a:spcPts val="600"/>
              </a:spcAft>
              <a:buSzPct val="100000"/>
              <a:buChar char="•"/>
            </a:pPr>
            <a:r>
              <a:rPr lang="en-US" sz="1400" dirty="0">
                <a:solidFill>
                  <a:schemeClr val="tx1"/>
                </a:solidFill>
              </a:rPr>
              <a:t>Birthday gift</a:t>
            </a:r>
            <a:endParaRPr lang="en-US" sz="1400" dirty="0"/>
          </a:p>
          <a:p>
            <a:pPr marL="342900" indent="-342900">
              <a:spcAft>
                <a:spcPts val="600"/>
              </a:spcAft>
              <a:buSzPct val="100000"/>
              <a:buChar char="•"/>
            </a:pPr>
            <a:r>
              <a:rPr lang="en-US" sz="1400" dirty="0">
                <a:solidFill>
                  <a:schemeClr val="tx1"/>
                </a:solidFill>
              </a:rPr>
              <a:t>Monthly live skin Q&amp;A</a:t>
            </a:r>
            <a:endParaRPr lang="en-US" sz="1400" dirty="0"/>
          </a:p>
        </p:txBody>
      </p:sp>
      <p:sp>
        <p:nvSpPr>
          <p:cNvPr id="7" name="Text 5"/>
          <p:cNvSpPr txBox="1"/>
          <p:nvPr/>
        </p:nvSpPr>
        <p:spPr>
          <a:xfrm>
            <a:off x="822960" y="4846320"/>
            <a:ext cx="2971800" cy="777240"/>
          </a:xfrm>
          <a:prstGeom prst="rect">
            <a:avLst/>
          </a:prstGeom>
          <a:noFill/>
          <a:ln/>
        </p:spPr>
        <p:txBody>
          <a:bodyPr wrap="square" lIns="0" tIns="0" rIns="0" bIns="0" rtlCol="0" anchor="t"/>
          <a:lstStyle/>
          <a:p>
            <a:pPr indent="0" marL="0">
              <a:buNone/>
            </a:pPr>
            <a:r>
              <a:rPr lang="en-US" sz="1300" b="1" dirty="0">
                <a:solidFill>
                  <a:schemeClr val="tx1"/>
                </a:solidFill>
              </a:rPr>
              <a:t>Cosmo gets: </a:t>
            </a:r>
            <a:pPr indent="0" marL="0">
              <a:buNone/>
            </a:pPr>
            <a:r>
              <a:rPr lang="en-US" sz="1300" dirty="0">
                <a:solidFill>
                  <a:schemeClr val="tx1"/>
                </a:solidFill>
              </a:rPr>
              <a:t>Name, phone, city and purchase history</a:t>
            </a:r>
            <a:endParaRPr lang="en-US" sz="1300" dirty="0"/>
          </a:p>
        </p:txBody>
      </p:sp>
      <p:sp>
        <p:nvSpPr>
          <p:cNvPr id="8" name="Insider tier"/>
          <p:cNvSpPr/>
          <p:nvPr/>
        </p:nvSpPr>
        <p:spPr>
          <a:xfrm>
            <a:off x="4297680" y="1508760"/>
            <a:ext cx="3520440" cy="4343400"/>
          </a:xfrm>
          <a:prstGeom prst="roundRect">
            <a:avLst>
              <a:gd name="adj" fmla="val 4156"/>
            </a:avLst>
          </a:prstGeom>
          <a:solidFill>
            <a:schemeClr val="bg1"/>
          </a:solidFill>
          <a:ln/>
          <a:effectLst>
            <a:outerShdw sx="100000" sy="100000" kx="0" ky="0" algn="bl" rotWithShape="0" blurRad="127000" dist="38100" dir="5400000">
              <a:srgbClr val="4E176B">
                <a:alpha val="12000"/>
              </a:srgbClr>
            </a:outerShdw>
          </a:effectLst>
        </p:spPr>
      </p:sp>
      <p:sp>
        <p:nvSpPr>
          <p:cNvPr id="9" name="Text 7"/>
          <p:cNvSpPr txBox="1"/>
          <p:nvPr/>
        </p:nvSpPr>
        <p:spPr>
          <a:xfrm>
            <a:off x="4572000" y="1691640"/>
            <a:ext cx="2971800" cy="548640"/>
          </a:xfrm>
          <a:prstGeom prst="rect">
            <a:avLst/>
          </a:prstGeom>
          <a:noFill/>
          <a:ln/>
        </p:spPr>
        <p:txBody>
          <a:bodyPr wrap="square" lIns="0" tIns="0" rIns="0" bIns="0" rtlCol="0" anchor="ctr"/>
          <a:lstStyle/>
          <a:p>
            <a:pPr indent="0" marL="0">
              <a:buNone/>
            </a:pPr>
            <a:r>
              <a:rPr lang="en-US" sz="2600" dirty="0">
                <a:solidFill>
                  <a:schemeClr val="tx2"/>
                </a:solidFill>
                <a:latin typeface="Georgia" pitchFamily="34" charset="0"/>
                <a:ea typeface="Georgia" pitchFamily="34" charset="-122"/>
                <a:cs typeface="Georgia" pitchFamily="34" charset="-120"/>
              </a:rPr>
              <a:t>Insider</a:t>
            </a:r>
            <a:endParaRPr lang="en-US" sz="2600" dirty="0"/>
          </a:p>
        </p:txBody>
      </p:sp>
      <p:sp>
        <p:nvSpPr>
          <p:cNvPr id="10" name="Text 8"/>
          <p:cNvSpPr txBox="1"/>
          <p:nvPr/>
        </p:nvSpPr>
        <p:spPr>
          <a:xfrm>
            <a:off x="4572000" y="2240280"/>
            <a:ext cx="2971800" cy="548640"/>
          </a:xfrm>
          <a:prstGeom prst="rect">
            <a:avLst/>
          </a:prstGeom>
          <a:noFill/>
          <a:ln/>
        </p:spPr>
        <p:txBody>
          <a:bodyPr wrap="square" lIns="0" tIns="0" rIns="0" bIns="0" rtlCol="0" anchor="t"/>
          <a:lstStyle/>
          <a:p>
            <a:pPr indent="0" marL="0">
              <a:buNone/>
            </a:pPr>
            <a:r>
              <a:rPr lang="en-US" sz="1300" i="1" dirty="0">
                <a:solidFill>
                  <a:schemeClr val="tx1"/>
                </a:solidFill>
              </a:rPr>
              <a:t>3+ purchases or 3 referrals in 6 months</a:t>
            </a:r>
            <a:endParaRPr lang="en-US" sz="1300" dirty="0"/>
          </a:p>
        </p:txBody>
      </p:sp>
      <p:sp>
        <p:nvSpPr>
          <p:cNvPr id="11" name="Text 9"/>
          <p:cNvSpPr txBox="1"/>
          <p:nvPr/>
        </p:nvSpPr>
        <p:spPr>
          <a:xfrm>
            <a:off x="4572000" y="2834640"/>
            <a:ext cx="297180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Early access to launches</a:t>
            </a:r>
            <a:endParaRPr lang="en-US" sz="1400" dirty="0"/>
          </a:p>
          <a:p>
            <a:pPr marL="342900" indent="-342900">
              <a:spcAft>
                <a:spcPts val="600"/>
              </a:spcAft>
              <a:buSzPct val="100000"/>
              <a:buChar char="•"/>
            </a:pPr>
            <a:r>
              <a:rPr lang="en-US" sz="1400" dirty="0">
                <a:solidFill>
                  <a:schemeClr val="tx1"/>
                </a:solidFill>
              </a:rPr>
              <a:t>Glow Session invites</a:t>
            </a:r>
            <a:endParaRPr lang="en-US" sz="1400" dirty="0"/>
          </a:p>
          <a:p>
            <a:pPr marL="342900" indent="-342900">
              <a:spcAft>
                <a:spcPts val="600"/>
              </a:spcAft>
              <a:buSzPct val="100000"/>
              <a:buChar char="•"/>
            </a:pPr>
            <a:r>
              <a:rPr lang="en-US" sz="1400" dirty="0">
                <a:solidFill>
                  <a:schemeClr val="tx1"/>
                </a:solidFill>
              </a:rPr>
              <a:t>Product-testing panel</a:t>
            </a:r>
            <a:endParaRPr lang="en-US" sz="1400" dirty="0"/>
          </a:p>
          <a:p>
            <a:pPr marL="342900" indent="-342900">
              <a:spcAft>
                <a:spcPts val="600"/>
              </a:spcAft>
              <a:buSzPct val="100000"/>
              <a:buChar char="•"/>
            </a:pPr>
            <a:r>
              <a:rPr lang="en-US" sz="1400" dirty="0">
                <a:solidFill>
                  <a:schemeClr val="tx1"/>
                </a:solidFill>
              </a:rPr>
              <a:t>₦2,000 credit per referred friend</a:t>
            </a:r>
            <a:endParaRPr lang="en-US" sz="1400" dirty="0"/>
          </a:p>
        </p:txBody>
      </p:sp>
      <p:sp>
        <p:nvSpPr>
          <p:cNvPr id="12" name="Text 10"/>
          <p:cNvSpPr txBox="1"/>
          <p:nvPr/>
        </p:nvSpPr>
        <p:spPr>
          <a:xfrm>
            <a:off x="4572000" y="4846320"/>
            <a:ext cx="2971800" cy="777240"/>
          </a:xfrm>
          <a:prstGeom prst="rect">
            <a:avLst/>
          </a:prstGeom>
          <a:noFill/>
          <a:ln/>
        </p:spPr>
        <p:txBody>
          <a:bodyPr wrap="square" lIns="0" tIns="0" rIns="0" bIns="0" rtlCol="0" anchor="t"/>
          <a:lstStyle/>
          <a:p>
            <a:pPr indent="0" marL="0">
              <a:buNone/>
            </a:pPr>
            <a:r>
              <a:rPr lang="en-US" sz="1300" b="1" dirty="0">
                <a:solidFill>
                  <a:schemeClr val="tx1"/>
                </a:solidFill>
              </a:rPr>
              <a:t>Cosmo gets: </a:t>
            </a:r>
            <a:pPr indent="0" marL="0">
              <a:buNone/>
            </a:pPr>
            <a:r>
              <a:rPr lang="en-US" sz="1300" dirty="0">
                <a:solidFill>
                  <a:schemeClr val="tx1"/>
                </a:solidFill>
              </a:rPr>
              <a:t>Repeat sales, referrals and feedback</a:t>
            </a:r>
            <a:endParaRPr lang="en-US" sz="1300" dirty="0"/>
          </a:p>
        </p:txBody>
      </p:sp>
      <p:sp>
        <p:nvSpPr>
          <p:cNvPr id="13" name="Ambassador tier"/>
          <p:cNvSpPr/>
          <p:nvPr/>
        </p:nvSpPr>
        <p:spPr>
          <a:xfrm>
            <a:off x="8046720" y="1508760"/>
            <a:ext cx="3520440" cy="4343400"/>
          </a:xfrm>
          <a:prstGeom prst="roundRect">
            <a:avLst>
              <a:gd name="adj" fmla="val 4156"/>
            </a:avLst>
          </a:prstGeom>
          <a:solidFill>
            <a:schemeClr val="accent1"/>
          </a:solidFill>
          <a:ln/>
          <a:effectLst>
            <a:outerShdw sx="100000" sy="100000" kx="0" ky="0" algn="bl" rotWithShape="0" blurRad="127000" dist="38100" dir="5400000">
              <a:srgbClr val="4E176B">
                <a:alpha val="12000"/>
              </a:srgbClr>
            </a:outerShdw>
          </a:effectLst>
        </p:spPr>
      </p:sp>
      <p:sp>
        <p:nvSpPr>
          <p:cNvPr id="14" name="Text 12"/>
          <p:cNvSpPr txBox="1"/>
          <p:nvPr/>
        </p:nvSpPr>
        <p:spPr>
          <a:xfrm>
            <a:off x="8321040" y="1691640"/>
            <a:ext cx="2971800" cy="548640"/>
          </a:xfrm>
          <a:prstGeom prst="rect">
            <a:avLst/>
          </a:prstGeom>
          <a:noFill/>
          <a:ln/>
        </p:spPr>
        <p:txBody>
          <a:bodyPr wrap="square" lIns="0" tIns="0" rIns="0" bIns="0" rtlCol="0" anchor="ctr"/>
          <a:lstStyle/>
          <a:p>
            <a:pPr indent="0" marL="0">
              <a:buNone/>
            </a:pPr>
            <a:r>
              <a:rPr lang="en-US" sz="2600" dirty="0">
                <a:solidFill>
                  <a:schemeClr val="bg1"/>
                </a:solidFill>
                <a:latin typeface="Georgia" pitchFamily="34" charset="0"/>
                <a:ea typeface="Georgia" pitchFamily="34" charset="-122"/>
                <a:cs typeface="Georgia" pitchFamily="34" charset="-120"/>
              </a:rPr>
              <a:t>Ambassador</a:t>
            </a:r>
            <a:endParaRPr lang="en-US" sz="2600" dirty="0"/>
          </a:p>
        </p:txBody>
      </p:sp>
      <p:sp>
        <p:nvSpPr>
          <p:cNvPr id="15" name="Text 13"/>
          <p:cNvSpPr txBox="1"/>
          <p:nvPr/>
        </p:nvSpPr>
        <p:spPr>
          <a:xfrm>
            <a:off x="8321040" y="2240280"/>
            <a:ext cx="2971800" cy="548640"/>
          </a:xfrm>
          <a:prstGeom prst="rect">
            <a:avLst/>
          </a:prstGeom>
          <a:noFill/>
          <a:ln/>
        </p:spPr>
        <p:txBody>
          <a:bodyPr wrap="square" lIns="0" tIns="0" rIns="0" bIns="0" rtlCol="0" anchor="t"/>
          <a:lstStyle/>
          <a:p>
            <a:pPr indent="0" marL="0">
              <a:buNone/>
            </a:pPr>
            <a:r>
              <a:rPr lang="en-US" sz="1300" i="1" dirty="0">
                <a:solidFill>
                  <a:schemeClr val="bg1"/>
                </a:solidFill>
              </a:rPr>
              <a:t>Top 1–2%, by application</a:t>
            </a:r>
            <a:endParaRPr lang="en-US" sz="1300" dirty="0"/>
          </a:p>
        </p:txBody>
      </p:sp>
      <p:sp>
        <p:nvSpPr>
          <p:cNvPr id="16" name="Text 14"/>
          <p:cNvSpPr txBox="1"/>
          <p:nvPr/>
        </p:nvSpPr>
        <p:spPr>
          <a:xfrm>
            <a:off x="8321040" y="2834640"/>
            <a:ext cx="297180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Personal code, 10% commission</a:t>
            </a:r>
            <a:endParaRPr lang="en-US" sz="1400" dirty="0"/>
          </a:p>
          <a:p>
            <a:pPr marL="342900" indent="-342900">
              <a:spcAft>
                <a:spcPts val="600"/>
              </a:spcAft>
              <a:buSzPct val="100000"/>
              <a:buChar char="•"/>
            </a:pPr>
            <a:r>
              <a:rPr lang="en-US" sz="1400" dirty="0">
                <a:solidFill>
                  <a:schemeClr val="bg1"/>
                </a:solidFill>
              </a:rPr>
              <a:t>Content kit</a:t>
            </a:r>
            <a:endParaRPr lang="en-US" sz="1400" dirty="0"/>
          </a:p>
          <a:p>
            <a:pPr marL="342900" indent="-342900">
              <a:spcAft>
                <a:spcPts val="600"/>
              </a:spcAft>
              <a:buSzPct val="100000"/>
              <a:buChar char="•"/>
            </a:pPr>
            <a:r>
              <a:rPr lang="en-US" sz="1400" dirty="0">
                <a:solidFill>
                  <a:schemeClr val="bg1"/>
                </a:solidFill>
              </a:rPr>
              <a:t>Monthly call with the founders</a:t>
            </a:r>
            <a:endParaRPr lang="en-US" sz="1400" dirty="0"/>
          </a:p>
          <a:p>
            <a:pPr marL="342900" indent="-342900">
              <a:spcAft>
                <a:spcPts val="600"/>
              </a:spcAft>
              <a:buSzPct val="100000"/>
              <a:buChar char="•"/>
            </a:pPr>
            <a:r>
              <a:rPr lang="en-US" sz="1400" dirty="0">
                <a:solidFill>
                  <a:schemeClr val="bg1"/>
                </a:solidFill>
              </a:rPr>
              <a:t>Option to resell at wholesale</a:t>
            </a:r>
            <a:endParaRPr lang="en-US" sz="1400" dirty="0"/>
          </a:p>
        </p:txBody>
      </p:sp>
      <p:sp>
        <p:nvSpPr>
          <p:cNvPr id="17" name="Text 15"/>
          <p:cNvSpPr txBox="1"/>
          <p:nvPr/>
        </p:nvSpPr>
        <p:spPr>
          <a:xfrm>
            <a:off x="8321040" y="4846320"/>
            <a:ext cx="2971800" cy="777240"/>
          </a:xfrm>
          <a:prstGeom prst="rect">
            <a:avLst/>
          </a:prstGeom>
          <a:noFill/>
          <a:ln/>
        </p:spPr>
        <p:txBody>
          <a:bodyPr wrap="square" lIns="0" tIns="0" rIns="0" bIns="0" rtlCol="0" anchor="t"/>
          <a:lstStyle/>
          <a:p>
            <a:pPr indent="0" marL="0">
              <a:buNone/>
            </a:pPr>
            <a:r>
              <a:rPr lang="en-US" sz="1300" b="1" dirty="0">
                <a:solidFill>
                  <a:schemeClr val="bg1"/>
                </a:solidFill>
              </a:rPr>
              <a:t>Cosmo gets: </a:t>
            </a:r>
            <a:pPr indent="0" marL="0">
              <a:buNone/>
            </a:pPr>
            <a:r>
              <a:rPr lang="en-US" sz="1300" dirty="0">
                <a:solidFill>
                  <a:schemeClr val="bg1"/>
                </a:solidFill>
              </a:rPr>
              <a:t>A sales force paid only on results</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t"/>
          <a:lstStyle/>
          <a:p>
            <a:pPr algn="l" indent="0" marL="0">
              <a:buNone/>
            </a:pPr>
            <a:r>
              <a:rPr lang="en-US" sz="3200" dirty="0">
                <a:solidFill>
                  <a:schemeClr val="tx1"/>
                </a:solidFill>
              </a:rPr>
              <a:t>Every phase must earn the next one</a:t>
            </a:r>
            <a:endParaRPr lang="en-US" sz="3200" dirty="0"/>
          </a:p>
        </p:txBody>
      </p:sp>
      <p:sp>
        <p:nvSpPr>
          <p:cNvPr id="3" name="Phase 1"/>
          <p:cNvSpPr/>
          <p:nvPr/>
        </p:nvSpPr>
        <p:spPr>
          <a:xfrm>
            <a:off x="548640" y="1508760"/>
            <a:ext cx="3474720" cy="2926080"/>
          </a:xfrm>
          <a:prstGeom prst="roundRect">
            <a:avLst>
              <a:gd name="adj" fmla="val 5000"/>
            </a:avLst>
          </a:prstGeom>
          <a:solidFill>
            <a:schemeClr val="accent1"/>
          </a:solidFill>
          <a:ln/>
          <a:effectLst>
            <a:outerShdw sx="100000" sy="100000" kx="0" ky="0" algn="bl" rotWithShape="0" blurRad="127000" dist="38100" dir="5400000">
              <a:srgbClr val="4E176B">
                <a:alpha val="12000"/>
              </a:srgbClr>
            </a:outerShdw>
          </a:effectLst>
        </p:spPr>
      </p:sp>
      <p:sp>
        <p:nvSpPr>
          <p:cNvPr id="4" name="Text 2"/>
          <p:cNvSpPr txBox="1"/>
          <p:nvPr/>
        </p:nvSpPr>
        <p:spPr>
          <a:xfrm>
            <a:off x="822960" y="1691640"/>
            <a:ext cx="2926080" cy="411480"/>
          </a:xfrm>
          <a:prstGeom prst="rect">
            <a:avLst/>
          </a:prstGeom>
          <a:noFill/>
          <a:ln/>
        </p:spPr>
        <p:txBody>
          <a:bodyPr wrap="square" lIns="0" tIns="0" rIns="0" bIns="0" rtlCol="0" anchor="ctr"/>
          <a:lstStyle/>
          <a:p>
            <a:pPr indent="0" marL="0">
              <a:buNone/>
            </a:pPr>
            <a:r>
              <a:rPr lang="en-US" sz="1800" b="1" dirty="0">
                <a:solidFill>
                  <a:schemeClr val="bg1"/>
                </a:solidFill>
              </a:rPr>
              <a:t>1 · Prove it in Lagos</a:t>
            </a:r>
            <a:endParaRPr lang="en-US" sz="1800" dirty="0"/>
          </a:p>
        </p:txBody>
      </p:sp>
      <p:sp>
        <p:nvSpPr>
          <p:cNvPr id="5" name="Text 3"/>
          <p:cNvSpPr txBox="1"/>
          <p:nvPr/>
        </p:nvSpPr>
        <p:spPr>
          <a:xfrm>
            <a:off x="822960" y="2103120"/>
            <a:ext cx="2926080" cy="320040"/>
          </a:xfrm>
          <a:prstGeom prst="rect">
            <a:avLst/>
          </a:prstGeom>
          <a:noFill/>
          <a:ln/>
        </p:spPr>
        <p:txBody>
          <a:bodyPr wrap="square" lIns="0" tIns="0" rIns="0" bIns="0" rtlCol="0" anchor="ctr"/>
          <a:lstStyle/>
          <a:p>
            <a:pPr indent="0" marL="0">
              <a:buNone/>
            </a:pPr>
            <a:r>
              <a:rPr lang="en-US" sz="1300" dirty="0">
                <a:solidFill>
                  <a:schemeClr val="accent6"/>
                </a:solidFill>
              </a:rPr>
              <a:t>Nov 2026 – Jan 2027 · ₦23m</a:t>
            </a:r>
            <a:endParaRPr lang="en-US" sz="1300" dirty="0"/>
          </a:p>
        </p:txBody>
      </p:sp>
      <p:sp>
        <p:nvSpPr>
          <p:cNvPr id="6" name="Text 4"/>
          <p:cNvSpPr txBox="1"/>
          <p:nvPr/>
        </p:nvSpPr>
        <p:spPr>
          <a:xfrm>
            <a:off x="822960" y="2560320"/>
            <a:ext cx="292608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Baseline and pack codes</a:t>
            </a:r>
            <a:endParaRPr lang="en-US" sz="1400" dirty="0"/>
          </a:p>
          <a:p>
            <a:pPr marL="342900" indent="-342900">
              <a:spcAft>
                <a:spcPts val="500"/>
              </a:spcAft>
              <a:buSzPct val="100000"/>
              <a:buChar char="•"/>
            </a:pPr>
            <a:r>
              <a:rPr lang="en-US" sz="1400" dirty="0">
                <a:solidFill>
                  <a:schemeClr val="bg1"/>
                </a:solidFill>
              </a:rPr>
              <a:t>WhatsApp verification live</a:t>
            </a:r>
            <a:endParaRPr lang="en-US" sz="1400" dirty="0"/>
          </a:p>
          <a:p>
            <a:pPr marL="342900" indent="-342900">
              <a:spcAft>
                <a:spcPts val="500"/>
              </a:spcAft>
              <a:buSzPct val="100000"/>
              <a:buChar char="•"/>
            </a:pPr>
            <a:r>
              <a:rPr lang="en-US" sz="1400" dirty="0">
                <a:solidFill>
                  <a:schemeClr val="bg1"/>
                </a:solidFill>
              </a:rPr>
              <a:t>100 founding members</a:t>
            </a:r>
            <a:endParaRPr lang="en-US" sz="1400" dirty="0"/>
          </a:p>
          <a:p>
            <a:pPr marL="342900" indent="-342900">
              <a:spcAft>
                <a:spcPts val="500"/>
              </a:spcAft>
              <a:buSzPct val="100000"/>
              <a:buChar char="•"/>
            </a:pPr>
            <a:r>
              <a:rPr lang="en-US" sz="1400" dirty="0">
                <a:solidFill>
                  <a:schemeClr val="bg1"/>
                </a:solidFill>
              </a:rPr>
              <a:t>Lagos Glow Sessions, Dec–Jan</a:t>
            </a:r>
            <a:endParaRPr lang="en-US" sz="1400" dirty="0"/>
          </a:p>
        </p:txBody>
      </p:sp>
      <p:sp>
        <p:nvSpPr>
          <p:cNvPr id="7" name="Phase 2"/>
          <p:cNvSpPr/>
          <p:nvPr/>
        </p:nvSpPr>
        <p:spPr>
          <a:xfrm>
            <a:off x="4343400" y="1508760"/>
            <a:ext cx="3474720" cy="2926080"/>
          </a:xfrm>
          <a:prstGeom prst="roundRect">
            <a:avLst>
              <a:gd name="adj" fmla="val 5000"/>
            </a:avLst>
          </a:prstGeom>
          <a:solidFill>
            <a:schemeClr val="bg2"/>
          </a:solidFill>
          <a:ln/>
          <a:effectLst>
            <a:outerShdw sx="100000" sy="100000" kx="0" ky="0" algn="bl" rotWithShape="0" blurRad="127000" dist="38100" dir="5400000">
              <a:srgbClr val="4E176B">
                <a:alpha val="12000"/>
              </a:srgbClr>
            </a:outerShdw>
          </a:effectLst>
        </p:spPr>
      </p:sp>
      <p:sp>
        <p:nvSpPr>
          <p:cNvPr id="8" name="Text 6"/>
          <p:cNvSpPr txBox="1"/>
          <p:nvPr/>
        </p:nvSpPr>
        <p:spPr>
          <a:xfrm>
            <a:off x="4617720" y="1691640"/>
            <a:ext cx="2926080" cy="411480"/>
          </a:xfrm>
          <a:prstGeom prst="rect">
            <a:avLst/>
          </a:prstGeom>
          <a:noFill/>
          <a:ln/>
        </p:spPr>
        <p:txBody>
          <a:bodyPr wrap="square" lIns="0" tIns="0" rIns="0" bIns="0" rtlCol="0" anchor="ctr"/>
          <a:lstStyle/>
          <a:p>
            <a:pPr indent="0" marL="0">
              <a:buNone/>
            </a:pPr>
            <a:r>
              <a:rPr lang="en-US" sz="1800" b="1" dirty="0">
                <a:solidFill>
                  <a:schemeClr val="tx2"/>
                </a:solidFill>
              </a:rPr>
              <a:t>2 · Expand to 3 cities</a:t>
            </a:r>
            <a:endParaRPr lang="en-US" sz="1800" dirty="0"/>
          </a:p>
        </p:txBody>
      </p:sp>
      <p:sp>
        <p:nvSpPr>
          <p:cNvPr id="9" name="Text 7"/>
          <p:cNvSpPr txBox="1"/>
          <p:nvPr/>
        </p:nvSpPr>
        <p:spPr>
          <a:xfrm>
            <a:off x="4617720" y="2103120"/>
            <a:ext cx="2926080" cy="320040"/>
          </a:xfrm>
          <a:prstGeom prst="rect">
            <a:avLst/>
          </a:prstGeom>
          <a:noFill/>
          <a:ln/>
        </p:spPr>
        <p:txBody>
          <a:bodyPr wrap="square" lIns="0" tIns="0" rIns="0" bIns="0" rtlCol="0" anchor="ctr"/>
          <a:lstStyle/>
          <a:p>
            <a:pPr indent="0" marL="0">
              <a:buNone/>
            </a:pPr>
            <a:r>
              <a:rPr lang="en-US" sz="1300" dirty="0">
                <a:solidFill>
                  <a:schemeClr val="tx2"/>
                </a:solidFill>
              </a:rPr>
              <a:t>Feb – Apr 2027 · ₦39m</a:t>
            </a:r>
            <a:endParaRPr lang="en-US" sz="1300" dirty="0"/>
          </a:p>
        </p:txBody>
      </p:sp>
      <p:sp>
        <p:nvSpPr>
          <p:cNvPr id="10" name="Text 8"/>
          <p:cNvSpPr txBox="1"/>
          <p:nvPr/>
        </p:nvSpPr>
        <p:spPr>
          <a:xfrm>
            <a:off x="4617720" y="2560320"/>
            <a:ext cx="292608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Abuja and PH Glow Sessions</a:t>
            </a:r>
            <a:endParaRPr lang="en-US" sz="1400" dirty="0"/>
          </a:p>
          <a:p>
            <a:pPr marL="342900" indent="-342900">
              <a:spcAft>
                <a:spcPts val="500"/>
              </a:spcAft>
              <a:buSzPct val="100000"/>
              <a:buChar char="•"/>
            </a:pPr>
            <a:r>
              <a:rPr lang="en-US" sz="1400" dirty="0">
                <a:solidFill>
                  <a:schemeClr val="tx1"/>
                </a:solidFill>
              </a:rPr>
              <a:t>Ambassador tier opens</a:t>
            </a:r>
            <a:endParaRPr lang="en-US" sz="1400" dirty="0"/>
          </a:p>
          <a:p>
            <a:pPr marL="342900" indent="-342900">
              <a:spcAft>
                <a:spcPts val="500"/>
              </a:spcAft>
              <a:buSzPct val="100000"/>
              <a:buChar char="•"/>
            </a:pPr>
            <a:r>
              <a:rPr lang="en-US" sz="1400" dirty="0">
                <a:solidFill>
                  <a:schemeClr val="tx1"/>
                </a:solidFill>
              </a:rPr>
              <a:t>First 30 verified resellers</a:t>
            </a:r>
            <a:endParaRPr lang="en-US" sz="1400" dirty="0"/>
          </a:p>
          <a:p>
            <a:pPr marL="342900" indent="-342900">
              <a:spcAft>
                <a:spcPts val="500"/>
              </a:spcAft>
              <a:buSzPct val="100000"/>
              <a:buChar char="•"/>
            </a:pPr>
            <a:r>
              <a:rPr lang="en-US" sz="1400" dirty="0">
                <a:solidFill>
                  <a:schemeClr val="tx1"/>
                </a:solidFill>
              </a:rPr>
              <a:t>Cosmo Day #1 in April</a:t>
            </a:r>
            <a:endParaRPr lang="en-US" sz="1400" dirty="0"/>
          </a:p>
        </p:txBody>
      </p:sp>
      <p:sp>
        <p:nvSpPr>
          <p:cNvPr id="11" name="Phase 3"/>
          <p:cNvSpPr/>
          <p:nvPr/>
        </p:nvSpPr>
        <p:spPr>
          <a:xfrm>
            <a:off x="8138160" y="1508760"/>
            <a:ext cx="3474720" cy="2926080"/>
          </a:xfrm>
          <a:prstGeom prst="roundRect">
            <a:avLst>
              <a:gd name="adj" fmla="val 5000"/>
            </a:avLst>
          </a:prstGeom>
          <a:solidFill>
            <a:schemeClr val="bg2"/>
          </a:solidFill>
          <a:ln/>
          <a:effectLst>
            <a:outerShdw sx="100000" sy="100000" kx="0" ky="0" algn="bl" rotWithShape="0" blurRad="127000" dist="38100" dir="5400000">
              <a:srgbClr val="4E176B">
                <a:alpha val="12000"/>
              </a:srgbClr>
            </a:outerShdw>
          </a:effectLst>
        </p:spPr>
      </p:sp>
      <p:sp>
        <p:nvSpPr>
          <p:cNvPr id="12" name="Text 10"/>
          <p:cNvSpPr txBox="1"/>
          <p:nvPr/>
        </p:nvSpPr>
        <p:spPr>
          <a:xfrm>
            <a:off x="8412480" y="1691640"/>
            <a:ext cx="2926080" cy="411480"/>
          </a:xfrm>
          <a:prstGeom prst="rect">
            <a:avLst/>
          </a:prstGeom>
          <a:noFill/>
          <a:ln/>
        </p:spPr>
        <p:txBody>
          <a:bodyPr wrap="square" lIns="0" tIns="0" rIns="0" bIns="0" rtlCol="0" anchor="ctr"/>
          <a:lstStyle/>
          <a:p>
            <a:pPr indent="0" marL="0">
              <a:buNone/>
            </a:pPr>
            <a:r>
              <a:rPr lang="en-US" sz="1800" b="1" dirty="0">
                <a:solidFill>
                  <a:schemeClr val="tx2"/>
                </a:solidFill>
              </a:rPr>
              <a:t>3 · Scale the network</a:t>
            </a:r>
            <a:endParaRPr lang="en-US" sz="1800" dirty="0"/>
          </a:p>
        </p:txBody>
      </p:sp>
      <p:sp>
        <p:nvSpPr>
          <p:cNvPr id="13" name="Text 11"/>
          <p:cNvSpPr txBox="1"/>
          <p:nvPr/>
        </p:nvSpPr>
        <p:spPr>
          <a:xfrm>
            <a:off x="8412480" y="2103120"/>
            <a:ext cx="2926080" cy="320040"/>
          </a:xfrm>
          <a:prstGeom prst="rect">
            <a:avLst/>
          </a:prstGeom>
          <a:noFill/>
          <a:ln/>
        </p:spPr>
        <p:txBody>
          <a:bodyPr wrap="square" lIns="0" tIns="0" rIns="0" bIns="0" rtlCol="0" anchor="ctr"/>
          <a:lstStyle/>
          <a:p>
            <a:pPr indent="0" marL="0">
              <a:buNone/>
            </a:pPr>
            <a:r>
              <a:rPr lang="en-US" sz="1300" dirty="0">
                <a:solidFill>
                  <a:schemeClr val="tx2"/>
                </a:solidFill>
              </a:rPr>
              <a:t>May – Oct 2027 · ₦58m</a:t>
            </a:r>
            <a:endParaRPr lang="en-US" sz="1300" dirty="0"/>
          </a:p>
        </p:txBody>
      </p:sp>
      <p:sp>
        <p:nvSpPr>
          <p:cNvPr id="14" name="Text 12"/>
          <p:cNvSpPr txBox="1"/>
          <p:nvPr/>
        </p:nvSpPr>
        <p:spPr>
          <a:xfrm>
            <a:off x="8412480" y="2560320"/>
            <a:ext cx="292608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Campus chapters</a:t>
            </a:r>
            <a:endParaRPr lang="en-US" sz="1400" dirty="0"/>
          </a:p>
          <a:p>
            <a:pPr marL="342900" indent="-342900">
              <a:spcAft>
                <a:spcPts val="500"/>
              </a:spcAft>
              <a:buSzPct val="100000"/>
              <a:buChar char="•"/>
            </a:pPr>
            <a:r>
              <a:rPr lang="en-US" sz="1400" dirty="0">
                <a:solidFill>
                  <a:schemeClr val="tx1"/>
                </a:solidFill>
              </a:rPr>
              <a:t>100 verified resellers</a:t>
            </a:r>
            <a:endParaRPr lang="en-US" sz="1400" dirty="0"/>
          </a:p>
          <a:p>
            <a:pPr marL="342900" indent="-342900">
              <a:spcAft>
                <a:spcPts val="500"/>
              </a:spcAft>
              <a:buSzPct val="100000"/>
              <a:buChar char="•"/>
            </a:pPr>
            <a:r>
              <a:rPr lang="en-US" sz="1400" dirty="0">
                <a:solidFill>
                  <a:schemeClr val="tx1"/>
                </a:solidFill>
              </a:rPr>
              <a:t>Men's chapter pilot</a:t>
            </a:r>
            <a:endParaRPr lang="en-US" sz="1400" dirty="0"/>
          </a:p>
          <a:p>
            <a:pPr marL="342900" indent="-342900">
              <a:spcAft>
                <a:spcPts val="500"/>
              </a:spcAft>
              <a:buSzPct val="100000"/>
              <a:buChar char="•"/>
            </a:pPr>
            <a:r>
              <a:rPr lang="en-US" sz="1400" dirty="0">
                <a:solidFill>
                  <a:schemeClr val="tx1"/>
                </a:solidFill>
              </a:rPr>
              <a:t>Cosmo Day #2 in October</a:t>
            </a:r>
            <a:endParaRPr lang="en-US" sz="1400" dirty="0"/>
          </a:p>
        </p:txBody>
      </p:sp>
      <p:sp>
        <p:nvSpPr>
          <p:cNvPr id="15" name="Time axis"/>
          <p:cNvSpPr/>
          <p:nvPr/>
        </p:nvSpPr>
        <p:spPr>
          <a:xfrm>
            <a:off x="548640" y="4846320"/>
            <a:ext cx="11064240" cy="0"/>
          </a:xfrm>
          <a:prstGeom prst="line">
            <a:avLst/>
          </a:prstGeom>
          <a:noFill/>
          <a:ln w="19050">
            <a:solidFill>
              <a:srgbClr val="B7A6CF"/>
            </a:solidFill>
            <a:prstDash val="solid"/>
          </a:ln>
        </p:spPr>
      </p:sp>
      <p:sp>
        <p:nvSpPr>
          <p:cNvPr id="16" name="Gate 1"/>
          <p:cNvSpPr/>
          <p:nvPr/>
        </p:nvSpPr>
        <p:spPr>
          <a:xfrm>
            <a:off x="4027932" y="4690872"/>
            <a:ext cx="310896" cy="310896"/>
          </a:xfrm>
          <a:prstGeom prst="diamond">
            <a:avLst/>
          </a:prstGeom>
          <a:solidFill>
            <a:schemeClr val="tx2"/>
          </a:solidFill>
          <a:ln/>
        </p:spPr>
      </p:sp>
      <p:sp>
        <p:nvSpPr>
          <p:cNvPr id="17" name="Gate label 1"/>
          <p:cNvSpPr txBox="1"/>
          <p:nvPr/>
        </p:nvSpPr>
        <p:spPr>
          <a:xfrm>
            <a:off x="2948940" y="5074920"/>
            <a:ext cx="2468880" cy="1005840"/>
          </a:xfrm>
          <a:prstGeom prst="rect">
            <a:avLst/>
          </a:prstGeom>
          <a:noFill/>
          <a:ln/>
        </p:spPr>
        <p:txBody>
          <a:bodyPr wrap="square" lIns="0" tIns="0" rIns="0" bIns="0" rtlCol="0" anchor="t"/>
          <a:lstStyle/>
          <a:p>
            <a:pPr algn="ctr" indent="0" marL="0">
              <a:buNone/>
            </a:pPr>
            <a:r>
              <a:rPr lang="en-US" sz="1400" b="1" dirty="0">
                <a:solidFill>
                  <a:schemeClr val="tx2"/>
                </a:solidFill>
              </a:rPr>
              <a:t>Gate 1 · end Jan 2027</a:t>
            </a:r>
            <a:endParaRPr lang="en-US" sz="1400" dirty="0"/>
          </a:p>
          <a:p>
            <a:pPr algn="ctr" indent="0" marL="0">
              <a:buNone/>
            </a:pPr>
            <a:r>
              <a:rPr lang="en-US" sz="1200" dirty="0">
                <a:solidFill>
                  <a:schemeClr val="tx1"/>
                </a:solidFill>
              </a:rPr>
              <a:t>3,000 members</a:t>
            </a:r>
            <a:endParaRPr lang="en-US" sz="1400" dirty="0"/>
          </a:p>
          <a:p>
            <a:pPr algn="ctr" indent="0" marL="0">
              <a:buNone/>
            </a:pPr>
            <a:r>
              <a:rPr lang="en-US" sz="1200" dirty="0">
                <a:solidFill>
                  <a:schemeClr val="tx1"/>
                </a:solidFill>
              </a:rPr>
              <a:t>30% of sales coded</a:t>
            </a:r>
            <a:endParaRPr lang="en-US" sz="1400" dirty="0"/>
          </a:p>
          <a:p>
            <a:pPr algn="ctr" indent="0" marL="0">
              <a:buNone/>
            </a:pPr>
            <a:r>
              <a:rPr lang="en-US" sz="1200" dirty="0">
                <a:solidFill>
                  <a:schemeClr val="tx1"/>
                </a:solidFill>
              </a:rPr>
              <a:t>≤ ₦6,000 per customer</a:t>
            </a:r>
            <a:endParaRPr lang="en-US" sz="1400" dirty="0"/>
          </a:p>
        </p:txBody>
      </p:sp>
      <p:sp>
        <p:nvSpPr>
          <p:cNvPr id="18" name="Gate 2"/>
          <p:cNvSpPr/>
          <p:nvPr/>
        </p:nvSpPr>
        <p:spPr>
          <a:xfrm>
            <a:off x="7822692" y="4690872"/>
            <a:ext cx="310896" cy="310896"/>
          </a:xfrm>
          <a:prstGeom prst="diamond">
            <a:avLst/>
          </a:prstGeom>
          <a:solidFill>
            <a:schemeClr val="tx2"/>
          </a:solidFill>
          <a:ln/>
        </p:spPr>
      </p:sp>
      <p:sp>
        <p:nvSpPr>
          <p:cNvPr id="19" name="Gate label 2"/>
          <p:cNvSpPr txBox="1"/>
          <p:nvPr/>
        </p:nvSpPr>
        <p:spPr>
          <a:xfrm>
            <a:off x="6743700" y="5074920"/>
            <a:ext cx="2468880" cy="1005840"/>
          </a:xfrm>
          <a:prstGeom prst="rect">
            <a:avLst/>
          </a:prstGeom>
          <a:noFill/>
          <a:ln/>
        </p:spPr>
        <p:txBody>
          <a:bodyPr wrap="square" lIns="0" tIns="0" rIns="0" bIns="0" rtlCol="0" anchor="t"/>
          <a:lstStyle/>
          <a:p>
            <a:pPr algn="ctr" indent="0" marL="0">
              <a:buNone/>
            </a:pPr>
            <a:r>
              <a:rPr lang="en-US" sz="1400" b="1" dirty="0">
                <a:solidFill>
                  <a:schemeClr val="tx2"/>
                </a:solidFill>
              </a:rPr>
              <a:t>Gate 2 · end Apr 2027</a:t>
            </a:r>
            <a:endParaRPr lang="en-US" sz="1400" dirty="0"/>
          </a:p>
          <a:p>
            <a:pPr algn="ctr" indent="0" marL="0">
              <a:buNone/>
            </a:pPr>
            <a:r>
              <a:rPr lang="en-US" sz="1200" dirty="0">
                <a:solidFill>
                  <a:schemeClr val="tx1"/>
                </a:solidFill>
              </a:rPr>
              <a:t>10,000 members</a:t>
            </a:r>
            <a:endParaRPr lang="en-US" sz="1400" dirty="0"/>
          </a:p>
          <a:p>
            <a:pPr algn="ctr" indent="0" marL="0">
              <a:buNone/>
            </a:pPr>
            <a:r>
              <a:rPr lang="en-US" sz="1200" dirty="0">
                <a:solidFill>
                  <a:schemeClr val="tx1"/>
                </a:solidFill>
              </a:rPr>
              <a:t>30% buy again</a:t>
            </a:r>
            <a:endParaRPr lang="en-US" sz="1400" dirty="0"/>
          </a:p>
          <a:p>
            <a:pPr algn="ctr" indent="0" marL="0">
              <a:buNone/>
            </a:pPr>
            <a:r>
              <a:rPr lang="en-US" sz="1200" dirty="0">
                <a:solidFill>
                  <a:schemeClr val="tx1"/>
                </a:solidFill>
              </a:rPr>
              <a:t>revenue +50%</a:t>
            </a:r>
            <a:endParaRPr lang="en-US" sz="1400" dirty="0"/>
          </a:p>
        </p:txBody>
      </p:sp>
      <p:sp>
        <p:nvSpPr>
          <p:cNvPr id="20" name="Gate 3"/>
          <p:cNvSpPr/>
          <p:nvPr/>
        </p:nvSpPr>
        <p:spPr>
          <a:xfrm>
            <a:off x="11320272" y="4690872"/>
            <a:ext cx="310896" cy="310896"/>
          </a:xfrm>
          <a:prstGeom prst="diamond">
            <a:avLst/>
          </a:prstGeom>
          <a:solidFill>
            <a:schemeClr val="accent1"/>
          </a:solidFill>
          <a:ln/>
        </p:spPr>
      </p:sp>
      <p:sp>
        <p:nvSpPr>
          <p:cNvPr id="21" name="Gate label 3"/>
          <p:cNvSpPr txBox="1"/>
          <p:nvPr/>
        </p:nvSpPr>
        <p:spPr>
          <a:xfrm>
            <a:off x="9144000" y="5074920"/>
            <a:ext cx="2468880" cy="1005840"/>
          </a:xfrm>
          <a:prstGeom prst="rect">
            <a:avLst/>
          </a:prstGeom>
          <a:noFill/>
          <a:ln/>
        </p:spPr>
        <p:txBody>
          <a:bodyPr wrap="square" lIns="0" tIns="0" rIns="0" bIns="0" rtlCol="0" anchor="t"/>
          <a:lstStyle/>
          <a:p>
            <a:pPr algn="r" indent="0" marL="0">
              <a:buNone/>
            </a:pPr>
            <a:r>
              <a:rPr lang="en-US" sz="1400" b="1" dirty="0">
                <a:solidFill>
                  <a:schemeClr val="tx2"/>
                </a:solidFill>
              </a:rPr>
              <a:t>Target · Oct 2027</a:t>
            </a:r>
            <a:endParaRPr lang="en-US" sz="1400" dirty="0"/>
          </a:p>
          <a:p>
            <a:pPr algn="r" indent="0" marL="0">
              <a:buNone/>
            </a:pPr>
            <a:r>
              <a:rPr lang="en-US" sz="1200" dirty="0">
                <a:solidFill>
                  <a:schemeClr val="tx1"/>
                </a:solidFill>
              </a:rPr>
              <a:t>25,000 members</a:t>
            </a:r>
            <a:endParaRPr lang="en-US" sz="1400" dirty="0"/>
          </a:p>
          <a:p>
            <a:pPr algn="r" indent="0" marL="0">
              <a:buNone/>
            </a:pPr>
            <a:r>
              <a:rPr lang="en-US" sz="1200" dirty="0">
                <a:solidFill>
                  <a:schemeClr val="tx1"/>
                </a:solidFill>
              </a:rPr>
              <a:t>35% buy again</a:t>
            </a:r>
            <a:endParaRPr lang="en-US" sz="1400" dirty="0"/>
          </a:p>
          <a:p>
            <a:pPr algn="r" indent="0" marL="0">
              <a:buNone/>
            </a:pPr>
            <a:r>
              <a:rPr lang="en-US" sz="1200" dirty="0">
                <a:solidFill>
                  <a:schemeClr val="tx1"/>
                </a:solidFill>
              </a:rPr>
              <a:t>revenue doubled</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t"/>
          <a:lstStyle/>
          <a:p>
            <a:pPr algn="l" indent="0" marL="0">
              <a:buNone/>
            </a:pPr>
            <a:r>
              <a:rPr lang="en-US" sz="3200" dirty="0">
                <a:solidFill>
                  <a:schemeClr val="tx1"/>
                </a:solidFill>
              </a:rPr>
              <a:t>No sale without a code, so every result is measurable</a:t>
            </a:r>
            <a:endParaRPr lang="en-US" sz="3200" dirty="0"/>
          </a:p>
        </p:txBody>
      </p:sp>
      <p:graphicFrame>
        <p:nvGraphicFramePr>
          <p:cNvPr id="14" name="KPI table"/>
          <p:cNvGraphicFramePr>
            <a:graphicFrameLocks noGrp="1"/>
          </p:cNvGraphicFramePr>
          <p:nvPr>
            <p:extLst>
              <p:ext uri="{D42A27DB-BD31-4B8C-83A1-F6EECF244321}">
                <p14:modId xmlns:p14="http://schemas.microsoft.com/office/powerpoint/2010/main" val="1579011935"/>
              </p:ext>
            </p:extLst>
          </p:nvPr>
        </p:nvGraphicFramePr>
        <p:xfrm>
          <a:off x="548640" y="1508760"/>
          <a:ext cx="7498080" cy="914400"/>
        </p:xfrm>
        <a:graphic>
          <a:graphicData uri="http://schemas.openxmlformats.org/drawingml/2006/table">
            <a:tbl>
              <a:tblPr/>
              <a:tblGrid>
                <a:gridCol w="3657600"/>
                <a:gridCol w="1280160"/>
                <a:gridCol w="1280160"/>
                <a:gridCol w="1280160"/>
              </a:tblGrid>
              <a:tr h="512064">
                <a:tc>
                  <a:txBody>
                    <a:bodyPr/>
                    <a:lstStyle/>
                    <a:p>
                      <a:pPr algn="l" indent="0" marL="0">
                        <a:buNone/>
                      </a:pPr>
                      <a:r>
                        <a:rPr lang="en-US" sz="1400" b="1" dirty="0">
                          <a:solidFill>
                            <a:schemeClr val="bg1"/>
                          </a:solidFill>
                        </a:rPr>
                        <a:t>KPI</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Jan 2027</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Apr 2027</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Oct 2027</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tx2"/>
                    </a:solidFill>
                  </a:tcPr>
                </a:tc>
              </a:tr>
              <a:tr h="512064">
                <a:tc>
                  <a:txBody>
                    <a:bodyPr/>
                    <a:lstStyle/>
                    <a:p>
                      <a:pPr algn="l" indent="0" marL="0">
                        <a:buNone/>
                      </a:pPr>
                      <a:r>
                        <a:rPr lang="en-US" sz="1400" b="1" dirty="0">
                          <a:solidFill>
                            <a:schemeClr val="tx2"/>
                          </a:solidFill>
                        </a:rPr>
                        <a:t>Monthly revenue vs today</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+20%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+50%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+100%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r>
              <a:tr h="512064">
                <a:tc>
                  <a:txBody>
                    <a:bodyPr/>
                    <a:lstStyle/>
                    <a:p>
                      <a:pPr algn="l" indent="0" marL="0">
                        <a:buNone/>
                      </a:pPr>
                      <a:r>
                        <a:rPr lang="en-US" sz="1400" b="1" dirty="0">
                          <a:solidFill>
                            <a:schemeClr val="tx2"/>
                          </a:solidFill>
                        </a:rPr>
                        <a:t>Verified members</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3,000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10,000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25,000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r>
              <a:tr h="512064">
                <a:tc>
                  <a:txBody>
                    <a:bodyPr/>
                    <a:lstStyle/>
                    <a:p>
                      <a:pPr algn="l" indent="0" marL="0">
                        <a:buNone/>
                      </a:pPr>
                      <a:r>
                        <a:rPr lang="en-US" sz="1400" b="1" dirty="0">
                          <a:solidFill>
                            <a:schemeClr val="tx2"/>
                          </a:solidFill>
                        </a:rPr>
                        <a:t>Sales carrying a code</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30%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50%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70%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r>
              <a:tr h="512064">
                <a:tc>
                  <a:txBody>
                    <a:bodyPr/>
                    <a:lstStyle/>
                    <a:p>
                      <a:pPr algn="l" indent="0" marL="0">
                        <a:buNone/>
                      </a:pPr>
                      <a:r>
                        <a:rPr lang="en-US" sz="1400" b="1" dirty="0">
                          <a:solidFill>
                            <a:schemeClr val="tx2"/>
                          </a:solidFill>
                        </a:rPr>
                        <a:t>Members buying again within 90 days</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20%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30%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35%</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r>
              <a:tr h="512064">
                <a:tc>
                  <a:txBody>
                    <a:bodyPr/>
                    <a:lstStyle/>
                    <a:p>
                      <a:pPr algn="l" indent="0" marL="0">
                        <a:buNone/>
                      </a:pPr>
                      <a:r>
                        <a:rPr lang="en-US" sz="1400" b="1" dirty="0">
                          <a:solidFill>
                            <a:schemeClr val="tx2"/>
                          </a:solidFill>
                        </a:rPr>
                        <a:t>New customers from referrals</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15%</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25%</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r>
              <a:tr h="512064">
                <a:tc>
                  <a:txBody>
                    <a:bodyPr/>
                    <a:lstStyle/>
                    <a:p>
                      <a:pPr algn="l" indent="0" marL="0">
                        <a:buNone/>
                      </a:pPr>
                      <a:r>
                        <a:rPr lang="en-US" sz="1400" b="1" dirty="0">
                          <a:solidFill>
                            <a:schemeClr val="tx2"/>
                          </a:solidFill>
                        </a:rPr>
                        <a:t>Cost per new verified customer</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 ₦6,000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 ₦5,000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 ₦4,500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r>
              <a:tr h="512064">
                <a:tc>
                  <a:txBody>
                    <a:bodyPr/>
                    <a:lstStyle/>
                    <a:p>
                      <a:pPr algn="l" indent="0" marL="0">
                        <a:buNone/>
                      </a:pPr>
                      <a:r>
                        <a:rPr lang="en-US" sz="1400" b="1" dirty="0">
                          <a:solidFill>
                            <a:schemeClr val="tx2"/>
                          </a:solidFill>
                        </a:rPr>
                        <a:t>Active Ambassadors (10+ orders a month)</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50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150</a:t>
                      </a:r>
                      <a:endParaRPr lang="en-US" sz="1400" dirty="0"/>
                    </a:p>
                  </a:txBody>
                  <a:tcPr marL="137160" marR="137160" marT="45720" marB="45720"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r>
            </a:tbl>
          </a:graphicData>
        </a:graphic>
      </p:graphicFrame>
      <p:sp>
        <p:nvSpPr>
          <p:cNvPr id="4" name="Tools card"/>
          <p:cNvSpPr/>
          <p:nvPr/>
        </p:nvSpPr>
        <p:spPr>
          <a:xfrm>
            <a:off x="8412480" y="1508760"/>
            <a:ext cx="3200400" cy="4114800"/>
          </a:xfrm>
          <a:prstGeom prst="roundRect">
            <a:avLst>
              <a:gd name="adj" fmla="val 4571"/>
            </a:avLst>
          </a:prstGeom>
          <a:solidFill>
            <a:schemeClr val="accent4"/>
          </a:solidFill>
          <a:ln/>
          <a:effectLst>
            <a:outerShdw sx="100000" sy="100000" kx="0" ky="0" algn="bl" rotWithShape="0" blurRad="127000" dist="38100" dir="5400000">
              <a:srgbClr val="4E176B">
                <a:alpha val="12000"/>
              </a:srgbClr>
            </a:outerShdw>
          </a:effectLst>
        </p:spPr>
      </p:sp>
      <p:sp>
        <p:nvSpPr>
          <p:cNvPr id="5" name="Text 2"/>
          <p:cNvSpPr txBox="1"/>
          <p:nvPr/>
        </p:nvSpPr>
        <p:spPr>
          <a:xfrm>
            <a:off x="8686800" y="1737360"/>
            <a:ext cx="2697480" cy="411480"/>
          </a:xfrm>
          <a:prstGeom prst="rect">
            <a:avLst/>
          </a:prstGeom>
          <a:noFill/>
          <a:ln/>
        </p:spPr>
        <p:txBody>
          <a:bodyPr wrap="square" lIns="0" tIns="0" rIns="0" bIns="0" rtlCol="0" anchor="ctr"/>
          <a:lstStyle/>
          <a:p>
            <a:pPr indent="0" marL="0">
              <a:buNone/>
            </a:pPr>
            <a:r>
              <a:rPr lang="en-US" sz="2000" dirty="0">
                <a:solidFill>
                  <a:schemeClr val="tx2"/>
                </a:solidFill>
                <a:latin typeface="Georgia" pitchFamily="34" charset="0"/>
                <a:ea typeface="Georgia" pitchFamily="34" charset="-122"/>
                <a:cs typeface="Georgia" pitchFamily="34" charset="-120"/>
              </a:rPr>
              <a:t>How we track it</a:t>
            </a:r>
            <a:endParaRPr lang="en-US" sz="2000" dirty="0"/>
          </a:p>
        </p:txBody>
      </p:sp>
      <p:sp>
        <p:nvSpPr>
          <p:cNvPr id="6" name="Text 3"/>
          <p:cNvSpPr txBox="1"/>
          <p:nvPr/>
        </p:nvSpPr>
        <p:spPr>
          <a:xfrm>
            <a:off x="8686800" y="2286000"/>
            <a:ext cx="2697480" cy="310896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Pack, creator, referral and reseller codes</a:t>
            </a:r>
            <a:endParaRPr lang="en-US" sz="1400" dirty="0"/>
          </a:p>
          <a:p>
            <a:pPr marL="342900" indent="-342900">
              <a:spcAft>
                <a:spcPts val="900"/>
              </a:spcAft>
              <a:buSzPct val="100000"/>
              <a:buChar char="•"/>
            </a:pPr>
            <a:r>
              <a:rPr lang="en-US" sz="1400" dirty="0">
                <a:solidFill>
                  <a:schemeClr val="tx1"/>
                </a:solidFill>
              </a:rPr>
              <a:t>WhatsApp Business for code checks</a:t>
            </a:r>
            <a:endParaRPr lang="en-US" sz="1400" dirty="0"/>
          </a:p>
          <a:p>
            <a:pPr marL="342900" indent="-342900">
              <a:spcAft>
                <a:spcPts val="900"/>
              </a:spcAft>
              <a:buSzPct val="100000"/>
              <a:buChar char="•"/>
            </a:pPr>
            <a:r>
              <a:rPr lang="en-US" sz="1400" dirty="0">
                <a:solidFill>
                  <a:schemeClr val="tx1"/>
                </a:solidFill>
              </a:rPr>
              <a:t>One customer list keyed on phone number</a:t>
            </a:r>
            <a:endParaRPr lang="en-US" sz="1400" dirty="0"/>
          </a:p>
          <a:p>
            <a:pPr marL="342900" indent="-342900">
              <a:spcAft>
                <a:spcPts val="900"/>
              </a:spcAft>
              <a:buSzPct val="100000"/>
              <a:buChar char="•"/>
            </a:pPr>
            <a:r>
              <a:rPr lang="en-US" sz="1400" dirty="0">
                <a:solidFill>
                  <a:schemeClr val="tx1"/>
                </a:solidFill>
              </a:rPr>
              <a:t>Weekly dashboard, reviewed every Monday</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t"/>
          <a:lstStyle/>
          <a:p>
            <a:pPr algn="l" indent="0" marL="0">
              <a:buNone/>
            </a:pPr>
            <a:r>
              <a:rPr lang="en-US" sz="3200" dirty="0">
                <a:solidFill>
                  <a:schemeClr val="tx1"/>
                </a:solidFill>
              </a:rPr>
              <a:t>₦120m in three stages, against ₦150m in one go</a:t>
            </a:r>
            <a:endParaRPr lang="en-US" sz="3200" dirty="0"/>
          </a:p>
        </p:txBody>
      </p:sp>
      <p:graphicFrame>
        <p:nvGraphicFramePr>
          <p:cNvPr id="3" name="Spend chart" descr=""/>
          <p:cNvGraphicFramePr/>
          <p:nvPr/>
        </p:nvGraphicFramePr>
        <p:xfrm>
          <a:off x="548640" y="1508760"/>
          <a:ext cx="6675120" cy="3291840"/>
        </p:xfrm>
        <a:graphic xmlns:a="http://schemas.openxmlformats.org/drawingml/2006/main">
          <a:graphicData uri="http://schemas.openxmlformats.org/drawingml/2006/chart">
            <c:chart xmlns:c="http://schemas.openxmlformats.org/drawingml/2006/chart" r:id="rId1"/>
          </a:graphicData>
        </a:graphic>
      </p:graphicFrame>
      <p:sp>
        <p:nvSpPr>
          <p:cNvPr id="4" name="Payback"/>
          <p:cNvSpPr/>
          <p:nvPr/>
        </p:nvSpPr>
        <p:spPr>
          <a:xfrm>
            <a:off x="548640" y="5029200"/>
            <a:ext cx="6675120" cy="868680"/>
          </a:xfrm>
          <a:prstGeom prst="roundRect">
            <a:avLst>
              <a:gd name="adj" fmla="val 16842"/>
            </a:avLst>
          </a:prstGeom>
          <a:solidFill>
            <a:schemeClr val="tx2"/>
          </a:solidFill>
          <a:ln/>
          <a:effectLst>
            <a:outerShdw sx="100000" sy="100000" kx="0" ky="0" algn="bl" rotWithShape="0" blurRad="127000" dist="38100" dir="5400000">
              <a:srgbClr val="4E176B">
                <a:alpha val="12000"/>
              </a:srgbClr>
            </a:outerShdw>
          </a:effectLst>
        </p:spPr>
      </p:sp>
      <p:sp>
        <p:nvSpPr>
          <p:cNvPr id="5" name="Text 2"/>
          <p:cNvSpPr txBox="1"/>
          <p:nvPr/>
        </p:nvSpPr>
        <p:spPr>
          <a:xfrm>
            <a:off x="822960" y="5102352"/>
            <a:ext cx="6217920" cy="731520"/>
          </a:xfrm>
          <a:prstGeom prst="rect">
            <a:avLst/>
          </a:prstGeom>
          <a:noFill/>
          <a:ln/>
        </p:spPr>
        <p:txBody>
          <a:bodyPr wrap="square" lIns="0" tIns="0" rIns="0" bIns="0" rtlCol="0" anchor="ctr"/>
          <a:lstStyle/>
          <a:p>
            <a:pPr indent="0" marL="0">
              <a:buNone/>
            </a:pPr>
            <a:r>
              <a:rPr lang="en-US" sz="1300" b="1" dirty="0">
                <a:solidFill>
                  <a:schemeClr val="bg1"/>
                </a:solidFill>
              </a:rPr>
              <a:t>Pays back at about ₦400m of extra sales. </a:t>
            </a:r>
            <a:pPr indent="0" marL="0">
              <a:buNone/>
            </a:pPr>
            <a:r>
              <a:rPr lang="en-US" sz="1300" dirty="0">
                <a:solidFill>
                  <a:schemeClr val="bg1"/>
                </a:solidFill>
              </a:rPr>
              <a:t>Commissions and rewards (about 15% of tracked sales) are paid only when sales happen.</a:t>
            </a:r>
            <a:endParaRPr lang="en-US" sz="1300" dirty="0"/>
          </a:p>
        </p:txBody>
      </p:sp>
      <p:graphicFrame>
        <p:nvGraphicFramePr>
          <p:cNvPr id="15" name="Budget table"/>
          <p:cNvGraphicFramePr>
            <a:graphicFrameLocks noGrp="1"/>
          </p:cNvGraphicFramePr>
          <p:nvPr>
            <p:extLst>
              <p:ext uri="{D42A27DB-BD31-4B8C-83A1-F6EECF244321}">
                <p14:modId xmlns:p14="http://schemas.microsoft.com/office/powerpoint/2010/main" val="1579011935"/>
              </p:ext>
            </p:extLst>
          </p:nvPr>
        </p:nvGraphicFramePr>
        <p:xfrm>
          <a:off x="7589520" y="1508760"/>
          <a:ext cx="4023360" cy="914400"/>
        </p:xfrm>
        <a:graphic>
          <a:graphicData uri="http://schemas.openxmlformats.org/drawingml/2006/table">
            <a:tbl>
              <a:tblPr/>
              <a:tblGrid>
                <a:gridCol w="3108960"/>
                <a:gridCol w="914400"/>
              </a:tblGrid>
              <a:tr h="429768">
                <a:tc>
                  <a:txBody>
                    <a:bodyPr/>
                    <a:lstStyle/>
                    <a:p>
                      <a:pPr algn="l" indent="0" marL="0">
                        <a:buNone/>
                      </a:pPr>
                      <a:r>
                        <a:rPr lang="en-US" sz="1300" b="1" dirty="0">
                          <a:solidFill>
                            <a:schemeClr val="bg1"/>
                          </a:solidFill>
                        </a:rPr>
                        <a:t>Where it goes</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accent1"/>
                    </a:solidFill>
                  </a:tcPr>
                </a:tc>
                <a:tc>
                  <a:txBody>
                    <a:bodyPr/>
                    <a:lstStyle/>
                    <a:p>
                      <a:pPr algn="r" indent="0" marL="0">
                        <a:buNone/>
                      </a:pPr>
                      <a:r>
                        <a:rPr lang="en-US" sz="1300" b="1" dirty="0">
                          <a:solidFill>
                            <a:schemeClr val="bg1"/>
                          </a:solidFill>
                        </a:rPr>
                        <a:t>₦m</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accent1"/>
                    </a:solidFill>
                  </a:tcPr>
                </a:tc>
              </a:tr>
              <a:tr h="429768">
                <a:tc>
                  <a:txBody>
                    <a:bodyPr/>
                    <a:lstStyle/>
                    <a:p>
                      <a:pPr algn="l" indent="0" marL="0">
                        <a:buNone/>
                      </a:pPr>
                      <a:r>
                        <a:rPr lang="en-US" sz="1300" dirty="0">
                          <a:solidFill>
                            <a:schemeClr val="tx1"/>
                          </a:solidFill>
                        </a:rPr>
                        <a:t>Micro creator base fees</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30.0</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r>
              <a:tr h="429768">
                <a:tc>
                  <a:txBody>
                    <a:bodyPr/>
                    <a:lstStyle/>
                    <a:p>
                      <a:pPr algn="l" indent="0" marL="0">
                        <a:buNone/>
                      </a:pPr>
                      <a:r>
                        <a:rPr lang="en-US" sz="1300" dirty="0">
                          <a:solidFill>
                            <a:schemeClr val="tx1"/>
                          </a:solidFill>
                        </a:rPr>
                        <a:t>Glow Sessions (29)</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17.4</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r>
              <a:tr h="429768">
                <a:tc>
                  <a:txBody>
                    <a:bodyPr/>
                    <a:lstStyle/>
                    <a:p>
                      <a:pPr algn="l" indent="0" marL="0">
                        <a:buNone/>
                      </a:pPr>
                      <a:r>
                        <a:rPr lang="en-US" sz="1300" dirty="0">
                          <a:solidFill>
                            <a:schemeClr val="tx1"/>
                          </a:solidFill>
                        </a:rPr>
                        <a:t>Cosmo Days (2)</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15.0</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r>
              <a:tr h="429768">
                <a:tc>
                  <a:txBody>
                    <a:bodyPr/>
                    <a:lstStyle/>
                    <a:p>
                      <a:pPr algn="l" indent="0" marL="0">
                        <a:buNone/>
                      </a:pPr>
                      <a:r>
                        <a:rPr lang="en-US" sz="1300" dirty="0">
                          <a:solidFill>
                            <a:schemeClr val="tx1"/>
                          </a:solidFill>
                        </a:rPr>
                        <a:t>Community lead and data officer</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12.0</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r>
              <a:tr h="429768">
                <a:tc>
                  <a:txBody>
                    <a:bodyPr/>
                    <a:lstStyle/>
                    <a:p>
                      <a:pPr algn="l" indent="0" marL="0">
                        <a:buNone/>
                      </a:pPr>
                      <a:r>
                        <a:rPr lang="en-US" sz="1300" dirty="0">
                          <a:solidFill>
                            <a:schemeClr val="tx1"/>
                          </a:solidFill>
                        </a:rPr>
                        <a:t>Paid boosts of member content</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12.0</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r>
              <a:tr h="429768">
                <a:tc>
                  <a:txBody>
                    <a:bodyPr/>
                    <a:lstStyle/>
                    <a:p>
                      <a:pPr algn="l" indent="0" marL="0">
                        <a:buNone/>
                      </a:pPr>
                      <a:r>
                        <a:rPr lang="en-US" sz="1300" dirty="0">
                          <a:solidFill>
                            <a:schemeClr val="tx1"/>
                          </a:solidFill>
                        </a:rPr>
                        <a:t>Pack codes, WhatsApp, database</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8.0</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r>
              <a:tr h="429768">
                <a:tc>
                  <a:txBody>
                    <a:bodyPr/>
                    <a:lstStyle/>
                    <a:p>
                      <a:pPr algn="l" indent="0" marL="0">
                        <a:buNone/>
                      </a:pPr>
                      <a:r>
                        <a:rPr lang="en-US" sz="1300" dirty="0">
                          <a:solidFill>
                            <a:schemeClr val="tx1"/>
                          </a:solidFill>
                        </a:rPr>
                        <a:t>Big-name test (optional)</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8.0</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1"/>
                    </a:solidFill>
                  </a:tcPr>
                </a:tc>
              </a:tr>
              <a:tr h="429768">
                <a:tc>
                  <a:txBody>
                    <a:bodyPr/>
                    <a:lstStyle/>
                    <a:p>
                      <a:pPr algn="l" indent="0" marL="0">
                        <a:buNone/>
                      </a:pPr>
                      <a:r>
                        <a:rPr lang="en-US" sz="1300" dirty="0">
                          <a:solidFill>
                            <a:schemeClr val="tx1"/>
                          </a:solidFill>
                        </a:rPr>
                        <a:t>Content, ARCON, campus, contingency</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17.6</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bg2"/>
                    </a:solidFill>
                  </a:tcPr>
                </a:tc>
              </a:tr>
              <a:tr h="429768">
                <a:tc>
                  <a:txBody>
                    <a:bodyPr/>
                    <a:lstStyle/>
                    <a:p>
                      <a:pPr indent="0" marL="0">
                        <a:buNone/>
                      </a:pPr>
                      <a:r>
                        <a:rPr lang="en-US" sz="1300" b="1" dirty="0">
                          <a:solidFill>
                            <a:schemeClr val="tx2"/>
                          </a:solidFill>
                        </a:rPr>
                        <a:t>Total</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accent4"/>
                    </a:solidFill>
                  </a:tcPr>
                </a:tc>
                <a:tc>
                  <a:txBody>
                    <a:bodyPr/>
                    <a:lstStyle/>
                    <a:p>
                      <a:pPr algn="r" indent="0" marL="0">
                        <a:buNone/>
                      </a:pPr>
                      <a:r>
                        <a:rPr lang="en-US" sz="1300" b="1" dirty="0">
                          <a:solidFill>
                            <a:schemeClr val="tx2"/>
                          </a:solidFill>
                        </a:rPr>
                        <a:t>120.0</a:t>
                      </a:r>
                      <a:endParaRPr lang="en-US" sz="1300" dirty="0"/>
                    </a:p>
                  </a:txBody>
                  <a:tcPr marL="109728" marR="109728" marT="36576" marB="36576" anchor="ctr">
                    <a:lnL w="9525" cap="flat" cmpd="sng" algn="ctr">
                      <a:solidFill>
                        <a:srgbClr val="E9DDFB"/>
                      </a:solidFill>
                      <a:prstDash val="solid"/>
                      <a:round/>
                      <a:headEnd type="none" w="med" len="med"/>
                      <a:tailEnd type="none" w="med" len="med"/>
                    </a:lnL>
                    <a:lnR w="9525" cap="flat" cmpd="sng" algn="ctr">
                      <a:solidFill>
                        <a:srgbClr val="E9DDFB"/>
                      </a:solidFill>
                      <a:prstDash val="solid"/>
                      <a:round/>
                      <a:headEnd type="none" w="med" len="med"/>
                      <a:tailEnd type="none" w="med" len="med"/>
                    </a:lnR>
                    <a:lnT w="9525" cap="flat" cmpd="sng" algn="ctr">
                      <a:solidFill>
                        <a:srgbClr val="E9DDFB"/>
                      </a:solidFill>
                      <a:prstDash val="solid"/>
                      <a:round/>
                      <a:headEnd type="none" w="med" len="med"/>
                      <a:tailEnd type="none" w="med" len="med"/>
                    </a:lnT>
                    <a:lnB w="9525" cap="flat" cmpd="sng" algn="ctr">
                      <a:solidFill>
                        <a:srgbClr val="E9DDFB"/>
                      </a:solidFill>
                      <a:prstDash val="solid"/>
                      <a:round/>
                      <a:headEnd type="none" w="med" len="med"/>
                      <a:tailEnd type="none" w="med" len="med"/>
                    </a:lnB>
                    <a:solidFill>
                      <a:schemeClr val="accent4"/>
                    </a:solidFill>
                  </a:tcPr>
                </a:tc>
              </a:tr>
            </a:tbl>
          </a:graphicData>
        </a:graphic>
      </p:graphicFrame>
      <p:sp>
        <p:nvSpPr>
          <p:cNvPr id="7" name="Source"/>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000" i="1" dirty="0">
                <a:solidFill>
                  <a:schemeClr val="tx2"/>
                </a:solidFill>
              </a:rPr>
              <a:t>Planning estimates; get quotes before Phase 1. Payback assumes a 45% gross margin.</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t"/>
          <a:lstStyle/>
          <a:p>
            <a:pPr algn="l" indent="0" marL="0">
              <a:buNone/>
            </a:pPr>
            <a:r>
              <a:rPr lang="en-US" sz="3200" dirty="0">
                <a:solidFill>
                  <a:schemeClr val="tx1"/>
                </a:solidFill>
              </a:rPr>
              <a:t>What we need to start in November</a:t>
            </a:r>
            <a:endParaRPr lang="en-US" sz="3200" dirty="0"/>
          </a:p>
        </p:txBody>
      </p:sp>
      <p:sp>
        <p:nvSpPr>
          <p:cNvPr id="3" name="Asks card"/>
          <p:cNvSpPr/>
          <p:nvPr/>
        </p:nvSpPr>
        <p:spPr>
          <a:xfrm>
            <a:off x="548640" y="1508760"/>
            <a:ext cx="5852160" cy="4343400"/>
          </a:xfrm>
          <a:prstGeom prst="roundRect">
            <a:avLst>
              <a:gd name="adj" fmla="val 3368"/>
            </a:avLst>
          </a:prstGeom>
          <a:solidFill>
            <a:schemeClr val="bg2"/>
          </a:solidFill>
          <a:ln/>
          <a:effectLst>
            <a:outerShdw sx="100000" sy="100000" kx="0" ky="0" algn="bl" rotWithShape="0" blurRad="127000" dist="38100" dir="5400000">
              <a:srgbClr val="4E176B">
                <a:alpha val="12000"/>
              </a:srgbClr>
            </a:outerShdw>
          </a:effectLst>
        </p:spPr>
      </p:sp>
      <p:sp>
        <p:nvSpPr>
          <p:cNvPr id="4" name="Text 2"/>
          <p:cNvSpPr txBox="1"/>
          <p:nvPr/>
        </p:nvSpPr>
        <p:spPr>
          <a:xfrm>
            <a:off x="822960" y="1691640"/>
            <a:ext cx="5303520" cy="411480"/>
          </a:xfrm>
          <a:prstGeom prst="rect">
            <a:avLst/>
          </a:prstGeom>
          <a:noFill/>
          <a:ln/>
        </p:spPr>
        <p:txBody>
          <a:bodyPr wrap="square" lIns="0" tIns="0" rIns="0" bIns="0" rtlCol="0" anchor="ctr"/>
          <a:lstStyle/>
          <a:p>
            <a:pPr indent="0" marL="0">
              <a:buNone/>
            </a:pPr>
            <a:r>
              <a:rPr lang="en-US" sz="2000" dirty="0">
                <a:solidFill>
                  <a:schemeClr val="tx2"/>
                </a:solidFill>
                <a:latin typeface="Georgia" pitchFamily="34" charset="0"/>
                <a:ea typeface="Georgia" pitchFamily="34" charset="-122"/>
                <a:cs typeface="Georgia" pitchFamily="34" charset="-120"/>
              </a:rPr>
              <a:t>Decisions and data</a:t>
            </a:r>
            <a:endParaRPr lang="en-US" sz="2000" dirty="0"/>
          </a:p>
        </p:txBody>
      </p:sp>
      <p:sp>
        <p:nvSpPr>
          <p:cNvPr id="5" name="Text 3"/>
          <p:cNvSpPr txBox="1"/>
          <p:nvPr/>
        </p:nvSpPr>
        <p:spPr>
          <a:xfrm>
            <a:off x="822960" y="2240280"/>
            <a:ext cx="5303520" cy="34290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chemeClr val="tx1"/>
                </a:solidFill>
              </a:rPr>
              <a:t>Six months of sales, orders, average order value and margin</a:t>
            </a:r>
            <a:endParaRPr lang="en-US" sz="1500" dirty="0"/>
          </a:p>
          <a:p>
            <a:pPr marL="342900" indent="-342900">
              <a:spcAft>
                <a:spcPts val="800"/>
              </a:spcAft>
              <a:buSzPct val="100000"/>
              <a:buFont typeface="+mj-lt"/>
              <a:buAutoNum type="arabicPeriod" startAt="1"/>
            </a:pPr>
            <a:r>
              <a:rPr lang="en-US" sz="1500" dirty="0">
                <a:solidFill>
                  <a:schemeClr val="tx1"/>
                </a:solidFill>
              </a:rPr>
              <a:t>Landed cost per product after freight and duty</a:t>
            </a:r>
            <a:endParaRPr lang="en-US" sz="1500" dirty="0"/>
          </a:p>
          <a:p>
            <a:pPr marL="342900" indent="-342900">
              <a:spcAft>
                <a:spcPts val="800"/>
              </a:spcAft>
              <a:buSzPct val="100000"/>
              <a:buFont typeface="+mj-lt"/>
              <a:buAutoNum type="arabicPeriod" startAt="1"/>
            </a:pPr>
            <a:r>
              <a:rPr lang="en-US" sz="1500" dirty="0">
                <a:solidFill>
                  <a:schemeClr val="tx1"/>
                </a:solidFill>
              </a:rPr>
              <a:t>Confirmation that the licence allows pack stickers and promotions</a:t>
            </a:r>
            <a:endParaRPr lang="en-US" sz="1500" dirty="0"/>
          </a:p>
          <a:p>
            <a:pPr marL="342900" indent="-342900">
              <a:spcAft>
                <a:spcPts val="800"/>
              </a:spcAft>
              <a:buSzPct val="100000"/>
              <a:buFont typeface="+mj-lt"/>
              <a:buAutoNum type="arabicPeriod" startAt="1"/>
            </a:pPr>
            <a:r>
              <a:rPr lang="en-US" sz="1500" dirty="0">
                <a:solidFill>
                  <a:schemeClr val="tx1"/>
                </a:solidFill>
              </a:rPr>
              <a:t>The hero product, and the skin problem it solves best</a:t>
            </a:r>
            <a:endParaRPr lang="en-US" sz="1500" dirty="0"/>
          </a:p>
          <a:p>
            <a:pPr marL="342900" indent="-342900">
              <a:spcAft>
                <a:spcPts val="800"/>
              </a:spcAft>
              <a:buSzPct val="100000"/>
              <a:buFont typeface="+mj-lt"/>
              <a:buAutoNum type="arabicPeriod" startAt="1"/>
            </a:pPr>
            <a:r>
              <a:rPr lang="en-US" sz="1500" dirty="0">
                <a:solidFill>
                  <a:schemeClr val="tx1"/>
                </a:solidFill>
              </a:rPr>
              <a:t>NAFDAC status of every product we plan to push</a:t>
            </a:r>
            <a:endParaRPr lang="en-US" sz="1500" dirty="0"/>
          </a:p>
          <a:p>
            <a:pPr marL="342900" indent="-342900">
              <a:spcAft>
                <a:spcPts val="800"/>
              </a:spcAft>
              <a:buSzPct val="100000"/>
              <a:buFont typeface="+mj-lt"/>
              <a:buAutoNum type="arabicPeriod" startAt="1"/>
            </a:pPr>
            <a:r>
              <a:rPr lang="en-US" sz="1500" dirty="0">
                <a:solidFill>
                  <a:schemeClr val="tx1"/>
                </a:solidFill>
              </a:rPr>
              <a:t>A full-time community lead from November</a:t>
            </a:r>
            <a:endParaRPr lang="en-US" sz="1500" dirty="0"/>
          </a:p>
        </p:txBody>
      </p:sp>
      <p:sp>
        <p:nvSpPr>
          <p:cNvPr id="6" name="Risk 1"/>
          <p:cNvSpPr/>
          <p:nvPr/>
        </p:nvSpPr>
        <p:spPr>
          <a:xfrm>
            <a:off x="6766560" y="1508760"/>
            <a:ext cx="4846320" cy="1325880"/>
          </a:xfrm>
          <a:prstGeom prst="roundRect">
            <a:avLst>
              <a:gd name="adj" fmla="val 11034"/>
            </a:avLst>
          </a:prstGeom>
          <a:solidFill>
            <a:schemeClr val="bg1"/>
          </a:solidFill>
          <a:ln w="12700">
            <a:solidFill>
              <a:schemeClr val="accent6"/>
            </a:solidFill>
            <a:prstDash val="solid"/>
          </a:ln>
          <a:effectLst>
            <a:outerShdw sx="100000" sy="100000" kx="0" ky="0" algn="bl" rotWithShape="0" blurRad="127000" dist="38100" dir="5400000">
              <a:srgbClr val="4E176B">
                <a:alpha val="12000"/>
              </a:srgbClr>
            </a:outerShdw>
          </a:effectLst>
        </p:spPr>
      </p:sp>
      <p:sp>
        <p:nvSpPr>
          <p:cNvPr id="7" name="The Circle feels like spam circle"/>
          <p:cNvSpPr/>
          <p:nvPr/>
        </p:nvSpPr>
        <p:spPr>
          <a:xfrm>
            <a:off x="6995160" y="1810512"/>
            <a:ext cx="713232" cy="713232"/>
          </a:xfrm>
          <a:prstGeom prst="ellipse">
            <a:avLst/>
          </a:prstGeom>
          <a:solidFill>
            <a:schemeClr val="tx2"/>
          </a:solidFill>
          <a:ln/>
        </p:spPr>
      </p:sp>
      <p:pic>
        <p:nvPicPr>
          <p:cNvPr id="8" name="The Circle feels like spam icon" descr="The Circle feels like spam">    </p:cNvPr>
          <p:cNvPicPr>
            <a:picLocks noChangeAspect="1"/>
          </p:cNvPicPr>
          <p:nvPr/>
        </p:nvPicPr>
        <p:blipFill>
          <a:blip r:embed="rId1"/>
          <a:stretch>
            <a:fillRect/>
          </a:stretch>
        </p:blipFill>
        <p:spPr>
          <a:xfrm>
            <a:off x="7173468" y="1988820"/>
            <a:ext cx="356616" cy="356616"/>
          </a:xfrm>
          <a:prstGeom prst="rect">
            <a:avLst/>
          </a:prstGeom>
        </p:spPr>
      </p:pic>
      <p:sp>
        <p:nvSpPr>
          <p:cNvPr id="9" name="Text 6"/>
          <p:cNvSpPr txBox="1"/>
          <p:nvPr/>
        </p:nvSpPr>
        <p:spPr>
          <a:xfrm>
            <a:off x="7909560" y="1645920"/>
            <a:ext cx="3520440" cy="1051560"/>
          </a:xfrm>
          <a:prstGeom prst="rect">
            <a:avLst/>
          </a:prstGeom>
          <a:noFill/>
          <a:ln/>
        </p:spPr>
        <p:txBody>
          <a:bodyPr wrap="square" lIns="0" tIns="0" rIns="0" bIns="0" rtlCol="0" anchor="ctr"/>
          <a:lstStyle/>
          <a:p>
            <a:pPr indent="0" marL="0">
              <a:buNone/>
            </a:pPr>
            <a:r>
              <a:rPr lang="en-US" sz="1500" b="1" dirty="0">
                <a:solidFill>
                  <a:schemeClr val="tx2"/>
                </a:solidFill>
              </a:rPr>
              <a:t>The Circle feels like spam</a:t>
            </a:r>
            <a:endParaRPr lang="en-US" sz="1500" dirty="0"/>
          </a:p>
          <a:p>
            <a:pPr indent="0" marL="0">
              <a:buNone/>
            </a:pPr>
            <a:r>
              <a:rPr lang="en-US" sz="1300" dirty="0">
                <a:solidFill>
                  <a:schemeClr val="tx1"/>
                </a:solidFill>
              </a:rPr>
              <a:t>At most two broadcasts a week; mostly skin education, not offers</a:t>
            </a:r>
            <a:endParaRPr lang="en-US" sz="1500" dirty="0"/>
          </a:p>
        </p:txBody>
      </p:sp>
      <p:sp>
        <p:nvSpPr>
          <p:cNvPr id="10" name="Risk 2"/>
          <p:cNvSpPr/>
          <p:nvPr/>
        </p:nvSpPr>
        <p:spPr>
          <a:xfrm>
            <a:off x="6766560" y="2990088"/>
            <a:ext cx="4846320" cy="1325880"/>
          </a:xfrm>
          <a:prstGeom prst="roundRect">
            <a:avLst>
              <a:gd name="adj" fmla="val 11034"/>
            </a:avLst>
          </a:prstGeom>
          <a:solidFill>
            <a:schemeClr val="bg1"/>
          </a:solidFill>
          <a:ln w="12700">
            <a:solidFill>
              <a:schemeClr val="accent6"/>
            </a:solidFill>
            <a:prstDash val="solid"/>
          </a:ln>
          <a:effectLst>
            <a:outerShdw sx="100000" sy="100000" kx="0" ky="0" algn="bl" rotWithShape="0" blurRad="127000" dist="38100" dir="5400000">
              <a:srgbClr val="4E176B">
                <a:alpha val="12000"/>
              </a:srgbClr>
            </a:outerShdw>
          </a:effectLst>
        </p:spPr>
      </p:sp>
      <p:sp>
        <p:nvSpPr>
          <p:cNvPr id="11" name="A bad reaction goes viral circle"/>
          <p:cNvSpPr/>
          <p:nvPr/>
        </p:nvSpPr>
        <p:spPr>
          <a:xfrm>
            <a:off x="6995160" y="3291840"/>
            <a:ext cx="713232" cy="713232"/>
          </a:xfrm>
          <a:prstGeom prst="ellipse">
            <a:avLst/>
          </a:prstGeom>
          <a:solidFill>
            <a:schemeClr val="tx2"/>
          </a:solidFill>
          <a:ln/>
        </p:spPr>
      </p:sp>
      <p:pic>
        <p:nvPicPr>
          <p:cNvPr id="12" name="A bad reaction goes viral icon" descr="A bad reaction goes viral">    </p:cNvPr>
          <p:cNvPicPr>
            <a:picLocks noChangeAspect="1"/>
          </p:cNvPicPr>
          <p:nvPr/>
        </p:nvPicPr>
        <p:blipFill>
          <a:blip r:embed="rId2"/>
          <a:stretch>
            <a:fillRect/>
          </a:stretch>
        </p:blipFill>
        <p:spPr>
          <a:xfrm>
            <a:off x="7173468" y="3470148"/>
            <a:ext cx="356616" cy="356616"/>
          </a:xfrm>
          <a:prstGeom prst="rect">
            <a:avLst/>
          </a:prstGeom>
        </p:spPr>
      </p:pic>
      <p:sp>
        <p:nvSpPr>
          <p:cNvPr id="13" name="Text 9"/>
          <p:cNvSpPr txBox="1"/>
          <p:nvPr/>
        </p:nvSpPr>
        <p:spPr>
          <a:xfrm>
            <a:off x="7909560" y="3127248"/>
            <a:ext cx="3520440" cy="1051560"/>
          </a:xfrm>
          <a:prstGeom prst="rect">
            <a:avLst/>
          </a:prstGeom>
          <a:noFill/>
          <a:ln/>
        </p:spPr>
        <p:txBody>
          <a:bodyPr wrap="square" lIns="0" tIns="0" rIns="0" bIns="0" rtlCol="0" anchor="ctr"/>
          <a:lstStyle/>
          <a:p>
            <a:pPr indent="0" marL="0">
              <a:buNone/>
            </a:pPr>
            <a:r>
              <a:rPr lang="en-US" sz="1500" b="1" dirty="0">
                <a:solidFill>
                  <a:schemeClr val="tx2"/>
                </a:solidFill>
              </a:rPr>
              <a:t>A bad reaction goes viral</a:t>
            </a:r>
            <a:endParaRPr lang="en-US" sz="1500" dirty="0"/>
          </a:p>
          <a:p>
            <a:pPr indent="0" marL="0">
              <a:buNone/>
            </a:pPr>
            <a:r>
              <a:rPr lang="en-US" sz="1300" dirty="0">
                <a:solidFill>
                  <a:schemeClr val="tx1"/>
                </a:solidFill>
              </a:rPr>
              <a:t>Dermatologist on call; reply to every complaint within 24 hours</a:t>
            </a:r>
            <a:endParaRPr lang="en-US" sz="1500" dirty="0"/>
          </a:p>
        </p:txBody>
      </p:sp>
      <p:sp>
        <p:nvSpPr>
          <p:cNvPr id="14" name="Risk 3"/>
          <p:cNvSpPr/>
          <p:nvPr/>
        </p:nvSpPr>
        <p:spPr>
          <a:xfrm>
            <a:off x="6766560" y="4471416"/>
            <a:ext cx="4846320" cy="1325880"/>
          </a:xfrm>
          <a:prstGeom prst="roundRect">
            <a:avLst>
              <a:gd name="adj" fmla="val 11034"/>
            </a:avLst>
          </a:prstGeom>
          <a:solidFill>
            <a:schemeClr val="bg1"/>
          </a:solidFill>
          <a:ln w="12700">
            <a:solidFill>
              <a:schemeClr val="accent6"/>
            </a:solidFill>
            <a:prstDash val="solid"/>
          </a:ln>
          <a:effectLst>
            <a:outerShdw sx="100000" sy="100000" kx="0" ky="0" algn="bl" rotWithShape="0" blurRad="127000" dist="38100" dir="5400000">
              <a:srgbClr val="4E176B">
                <a:alpha val="12000"/>
              </a:srgbClr>
            </a:outerShdw>
          </a:effectLst>
        </p:spPr>
      </p:sp>
      <p:sp>
        <p:nvSpPr>
          <p:cNvPr id="15" name="Ads breach ARCON rules circle"/>
          <p:cNvSpPr/>
          <p:nvPr/>
        </p:nvSpPr>
        <p:spPr>
          <a:xfrm>
            <a:off x="6995160" y="4773168"/>
            <a:ext cx="713232" cy="713232"/>
          </a:xfrm>
          <a:prstGeom prst="ellipse">
            <a:avLst/>
          </a:prstGeom>
          <a:solidFill>
            <a:schemeClr val="tx2"/>
          </a:solidFill>
          <a:ln/>
        </p:spPr>
      </p:sp>
      <p:pic>
        <p:nvPicPr>
          <p:cNvPr id="16" name="Ads breach ARCON rules icon" descr="Ads breach ARCON rules">    </p:cNvPr>
          <p:cNvPicPr>
            <a:picLocks noChangeAspect="1"/>
          </p:cNvPicPr>
          <p:nvPr/>
        </p:nvPicPr>
        <p:blipFill>
          <a:blip r:embed="rId3"/>
          <a:stretch>
            <a:fillRect/>
          </a:stretch>
        </p:blipFill>
        <p:spPr>
          <a:xfrm>
            <a:off x="7173468" y="4951476"/>
            <a:ext cx="356616" cy="356616"/>
          </a:xfrm>
          <a:prstGeom prst="rect">
            <a:avLst/>
          </a:prstGeom>
        </p:spPr>
      </p:pic>
      <p:sp>
        <p:nvSpPr>
          <p:cNvPr id="17" name="Text 12"/>
          <p:cNvSpPr txBox="1"/>
          <p:nvPr/>
        </p:nvSpPr>
        <p:spPr>
          <a:xfrm>
            <a:off x="7909560" y="4608576"/>
            <a:ext cx="3520440" cy="1051560"/>
          </a:xfrm>
          <a:prstGeom prst="rect">
            <a:avLst/>
          </a:prstGeom>
          <a:noFill/>
          <a:ln/>
        </p:spPr>
        <p:txBody>
          <a:bodyPr wrap="square" lIns="0" tIns="0" rIns="0" bIns="0" rtlCol="0" anchor="ctr"/>
          <a:lstStyle/>
          <a:p>
            <a:pPr indent="0" marL="0">
              <a:buNone/>
            </a:pPr>
            <a:r>
              <a:rPr lang="en-US" sz="1500" b="1" dirty="0">
                <a:solidFill>
                  <a:schemeClr val="tx2"/>
                </a:solidFill>
              </a:rPr>
              <a:t>Ads breach ARCON rules</a:t>
            </a:r>
            <a:endParaRPr lang="en-US" sz="1500" dirty="0"/>
          </a:p>
          <a:p>
            <a:pPr indent="0" marL="0">
              <a:buNone/>
            </a:pPr>
            <a:r>
              <a:rPr lang="en-US" sz="1300" dirty="0">
                <a:solidFill>
                  <a:schemeClr val="tx1"/>
                </a:solidFill>
              </a:rPr>
              <a:t>Vet campaign creative first; brief every creator on disclosure</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t"/>
          <a:lstStyle/>
          <a:p>
            <a:pPr algn="l" indent="0" marL="0">
              <a:buNone/>
            </a:pPr>
            <a:r>
              <a:rPr lang="en-US" sz="3200" dirty="0">
                <a:solidFill>
                  <a:schemeClr val="bg1"/>
                </a:solidFill>
              </a:rPr>
              <a:t>The first 30 days</a:t>
            </a:r>
            <a:endParaRPr lang="en-US" sz="3200" dirty="0"/>
          </a:p>
        </p:txBody>
      </p:sp>
      <p:sp>
        <p:nvSpPr>
          <p:cNvPr id="3" name="Step dot 1"/>
          <p:cNvSpPr/>
          <p:nvPr/>
        </p:nvSpPr>
        <p:spPr>
          <a:xfrm>
            <a:off x="640080" y="1691640"/>
            <a:ext cx="914400" cy="914400"/>
          </a:xfrm>
          <a:prstGeom prst="ellipse">
            <a:avLst/>
          </a:prstGeom>
          <a:solidFill>
            <a:schemeClr val="accent3"/>
          </a:solidFill>
          <a:ln/>
        </p:spPr>
      </p:sp>
      <p:sp>
        <p:nvSpPr>
          <p:cNvPr id="4" name="Text 2"/>
          <p:cNvSpPr txBox="1"/>
          <p:nvPr/>
        </p:nvSpPr>
        <p:spPr>
          <a:xfrm>
            <a:off x="640080" y="1691640"/>
            <a:ext cx="914400" cy="914400"/>
          </a:xfrm>
          <a:prstGeom prst="rect">
            <a:avLst/>
          </a:prstGeom>
          <a:noFill/>
          <a:ln/>
        </p:spPr>
        <p:txBody>
          <a:bodyPr wrap="square" lIns="0" tIns="0" rIns="0" bIns="0" rtlCol="0" anchor="ctr"/>
          <a:lstStyle/>
          <a:p>
            <a:pPr algn="ctr" indent="0" marL="0">
              <a:buNone/>
            </a:pPr>
            <a:r>
              <a:rPr lang="en-US" sz="3000" dirty="0">
                <a:solidFill>
                  <a:schemeClr val="tx2"/>
                </a:solidFill>
                <a:latin typeface="Georgia" pitchFamily="34" charset="0"/>
                <a:ea typeface="Georgia" pitchFamily="34" charset="-122"/>
                <a:cs typeface="Georgia" pitchFamily="34" charset="-120"/>
              </a:rPr>
              <a:t>1</a:t>
            </a:r>
            <a:endParaRPr lang="en-US" sz="3000" dirty="0"/>
          </a:p>
        </p:txBody>
      </p:sp>
      <p:sp>
        <p:nvSpPr>
          <p:cNvPr id="5" name="Text 3"/>
          <p:cNvSpPr txBox="1"/>
          <p:nvPr/>
        </p:nvSpPr>
        <p:spPr>
          <a:xfrm>
            <a:off x="640080" y="2834640"/>
            <a:ext cx="2011680" cy="1463040"/>
          </a:xfrm>
          <a:prstGeom prst="rect">
            <a:avLst/>
          </a:prstGeom>
          <a:noFill/>
          <a:ln/>
        </p:spPr>
        <p:txBody>
          <a:bodyPr wrap="square" lIns="0" tIns="0" rIns="0" bIns="0" rtlCol="0" anchor="t"/>
          <a:lstStyle/>
          <a:p>
            <a:pPr indent="0" marL="0">
              <a:buNone/>
            </a:pPr>
            <a:r>
              <a:rPr lang="en-US" sz="1700" b="1" dirty="0">
                <a:solidFill>
                  <a:schemeClr val="bg1"/>
                </a:solidFill>
              </a:rPr>
              <a:t>Record the baseline</a:t>
            </a:r>
            <a:endParaRPr lang="en-US" sz="1700" dirty="0"/>
          </a:p>
          <a:p>
            <a:pPr indent="0" marL="0">
              <a:buNone/>
            </a:pPr>
            <a:r>
              <a:rPr lang="en-US" sz="1400" dirty="0">
                <a:solidFill>
                  <a:schemeClr val="accent6"/>
                </a:solidFill>
              </a:rPr>
              <a:t>sales, margin, repeat rate</a:t>
            </a:r>
            <a:endParaRPr lang="en-US" sz="1700" dirty="0"/>
          </a:p>
        </p:txBody>
      </p:sp>
      <p:sp>
        <p:nvSpPr>
          <p:cNvPr id="6" name="Step dot 2"/>
          <p:cNvSpPr/>
          <p:nvPr/>
        </p:nvSpPr>
        <p:spPr>
          <a:xfrm>
            <a:off x="2889504" y="1691640"/>
            <a:ext cx="914400" cy="914400"/>
          </a:xfrm>
          <a:prstGeom prst="ellipse">
            <a:avLst/>
          </a:prstGeom>
          <a:solidFill>
            <a:schemeClr val="accent1"/>
          </a:solidFill>
          <a:ln/>
        </p:spPr>
      </p:sp>
      <p:sp>
        <p:nvSpPr>
          <p:cNvPr id="7" name="Text 5"/>
          <p:cNvSpPr txBox="1"/>
          <p:nvPr/>
        </p:nvSpPr>
        <p:spPr>
          <a:xfrm>
            <a:off x="2889504" y="1691640"/>
            <a:ext cx="914400" cy="914400"/>
          </a:xfrm>
          <a:prstGeom prst="rect">
            <a:avLst/>
          </a:prstGeom>
          <a:noFill/>
          <a:ln/>
        </p:spPr>
        <p:txBody>
          <a:bodyPr wrap="square" lIns="0" tIns="0" rIns="0" bIns="0" rtlCol="0" anchor="ctr"/>
          <a:lstStyle/>
          <a:p>
            <a:pPr algn="ctr" indent="0" marL="0">
              <a:buNone/>
            </a:pPr>
            <a:r>
              <a:rPr lang="en-US" sz="3000" dirty="0">
                <a:solidFill>
                  <a:schemeClr val="bg1"/>
                </a:solidFill>
                <a:latin typeface="Georgia" pitchFamily="34" charset="0"/>
                <a:ea typeface="Georgia" pitchFamily="34" charset="-122"/>
                <a:cs typeface="Georgia" pitchFamily="34" charset="-120"/>
              </a:rPr>
              <a:t>2</a:t>
            </a:r>
            <a:endParaRPr lang="en-US" sz="3000" dirty="0"/>
          </a:p>
        </p:txBody>
      </p:sp>
      <p:sp>
        <p:nvSpPr>
          <p:cNvPr id="8" name="Text 6"/>
          <p:cNvSpPr txBox="1"/>
          <p:nvPr/>
        </p:nvSpPr>
        <p:spPr>
          <a:xfrm>
            <a:off x="2889504" y="2834640"/>
            <a:ext cx="2011680" cy="1463040"/>
          </a:xfrm>
          <a:prstGeom prst="rect">
            <a:avLst/>
          </a:prstGeom>
          <a:noFill/>
          <a:ln/>
        </p:spPr>
        <p:txBody>
          <a:bodyPr wrap="square" lIns="0" tIns="0" rIns="0" bIns="0" rtlCol="0" anchor="t"/>
          <a:lstStyle/>
          <a:p>
            <a:pPr indent="0" marL="0">
              <a:buNone/>
            </a:pPr>
            <a:r>
              <a:rPr lang="en-US" sz="1700" b="1" dirty="0">
                <a:solidFill>
                  <a:schemeClr val="bg1"/>
                </a:solidFill>
              </a:rPr>
              <a:t>Order pack codes</a:t>
            </a:r>
            <a:endParaRPr lang="en-US" sz="1700" dirty="0"/>
          </a:p>
          <a:p>
            <a:pPr indent="0" marL="0">
              <a:buNone/>
            </a:pPr>
            <a:r>
              <a:rPr lang="en-US" sz="1400" dirty="0">
                <a:solidFill>
                  <a:schemeClr val="accent6"/>
                </a:solidFill>
              </a:rPr>
              <a:t>and set up WhatsApp verification</a:t>
            </a:r>
            <a:endParaRPr lang="en-US" sz="1700" dirty="0"/>
          </a:p>
        </p:txBody>
      </p:sp>
      <p:sp>
        <p:nvSpPr>
          <p:cNvPr id="9" name="Step dot 3"/>
          <p:cNvSpPr/>
          <p:nvPr/>
        </p:nvSpPr>
        <p:spPr>
          <a:xfrm>
            <a:off x="5138928" y="1691640"/>
            <a:ext cx="914400" cy="914400"/>
          </a:xfrm>
          <a:prstGeom prst="ellipse">
            <a:avLst/>
          </a:prstGeom>
          <a:solidFill>
            <a:schemeClr val="accent1"/>
          </a:solidFill>
          <a:ln/>
        </p:spPr>
      </p:sp>
      <p:sp>
        <p:nvSpPr>
          <p:cNvPr id="10" name="Text 8"/>
          <p:cNvSpPr txBox="1"/>
          <p:nvPr/>
        </p:nvSpPr>
        <p:spPr>
          <a:xfrm>
            <a:off x="5138928" y="1691640"/>
            <a:ext cx="914400" cy="914400"/>
          </a:xfrm>
          <a:prstGeom prst="rect">
            <a:avLst/>
          </a:prstGeom>
          <a:noFill/>
          <a:ln/>
        </p:spPr>
        <p:txBody>
          <a:bodyPr wrap="square" lIns="0" tIns="0" rIns="0" bIns="0" rtlCol="0" anchor="ctr"/>
          <a:lstStyle/>
          <a:p>
            <a:pPr algn="ctr" indent="0" marL="0">
              <a:buNone/>
            </a:pPr>
            <a:r>
              <a:rPr lang="en-US" sz="3000" dirty="0">
                <a:solidFill>
                  <a:schemeClr val="bg1"/>
                </a:solidFill>
                <a:latin typeface="Georgia" pitchFamily="34" charset="0"/>
                <a:ea typeface="Georgia" pitchFamily="34" charset="-122"/>
                <a:cs typeface="Georgia" pitchFamily="34" charset="-120"/>
              </a:rPr>
              <a:t>3</a:t>
            </a:r>
            <a:endParaRPr lang="en-US" sz="3000" dirty="0"/>
          </a:p>
        </p:txBody>
      </p:sp>
      <p:sp>
        <p:nvSpPr>
          <p:cNvPr id="11" name="Text 9"/>
          <p:cNvSpPr txBox="1"/>
          <p:nvPr/>
        </p:nvSpPr>
        <p:spPr>
          <a:xfrm>
            <a:off x="5138928" y="2834640"/>
            <a:ext cx="2011680" cy="1463040"/>
          </a:xfrm>
          <a:prstGeom prst="rect">
            <a:avLst/>
          </a:prstGeom>
          <a:noFill/>
          <a:ln/>
        </p:spPr>
        <p:txBody>
          <a:bodyPr wrap="square" lIns="0" tIns="0" rIns="0" bIns="0" rtlCol="0" anchor="t"/>
          <a:lstStyle/>
          <a:p>
            <a:pPr indent="0" marL="0">
              <a:buNone/>
            </a:pPr>
            <a:r>
              <a:rPr lang="en-US" sz="1700" b="1" dirty="0">
                <a:solidFill>
                  <a:schemeClr val="bg1"/>
                </a:solidFill>
              </a:rPr>
              <a:t>Hire a community lead</a:t>
            </a:r>
            <a:endParaRPr lang="en-US" sz="1700" dirty="0"/>
          </a:p>
          <a:p>
            <a:pPr indent="0" marL="0">
              <a:buNone/>
            </a:pPr>
            <a:r>
              <a:rPr lang="en-US" sz="1400" dirty="0">
                <a:solidFill>
                  <a:schemeClr val="accent6"/>
                </a:solidFill>
              </a:rPr>
              <a:t>full-time from November</a:t>
            </a:r>
            <a:endParaRPr lang="en-US" sz="1700" dirty="0"/>
          </a:p>
        </p:txBody>
      </p:sp>
      <p:sp>
        <p:nvSpPr>
          <p:cNvPr id="12" name="Step dot 4"/>
          <p:cNvSpPr/>
          <p:nvPr/>
        </p:nvSpPr>
        <p:spPr>
          <a:xfrm>
            <a:off x="7388352" y="1691640"/>
            <a:ext cx="914400" cy="914400"/>
          </a:xfrm>
          <a:prstGeom prst="ellipse">
            <a:avLst/>
          </a:prstGeom>
          <a:solidFill>
            <a:schemeClr val="accent1"/>
          </a:solidFill>
          <a:ln/>
        </p:spPr>
      </p:sp>
      <p:sp>
        <p:nvSpPr>
          <p:cNvPr id="13" name="Text 11"/>
          <p:cNvSpPr txBox="1"/>
          <p:nvPr/>
        </p:nvSpPr>
        <p:spPr>
          <a:xfrm>
            <a:off x="7388352" y="1691640"/>
            <a:ext cx="914400" cy="914400"/>
          </a:xfrm>
          <a:prstGeom prst="rect">
            <a:avLst/>
          </a:prstGeom>
          <a:noFill/>
          <a:ln/>
        </p:spPr>
        <p:txBody>
          <a:bodyPr wrap="square" lIns="0" tIns="0" rIns="0" bIns="0" rtlCol="0" anchor="ctr"/>
          <a:lstStyle/>
          <a:p>
            <a:pPr algn="ctr" indent="0" marL="0">
              <a:buNone/>
            </a:pPr>
            <a:r>
              <a:rPr lang="en-US" sz="3000" dirty="0">
                <a:solidFill>
                  <a:schemeClr val="bg1"/>
                </a:solidFill>
                <a:latin typeface="Georgia" pitchFamily="34" charset="0"/>
                <a:ea typeface="Georgia" pitchFamily="34" charset="-122"/>
                <a:cs typeface="Georgia" pitchFamily="34" charset="-120"/>
              </a:rPr>
              <a:t>4</a:t>
            </a:r>
            <a:endParaRPr lang="en-US" sz="3000" dirty="0"/>
          </a:p>
        </p:txBody>
      </p:sp>
      <p:sp>
        <p:nvSpPr>
          <p:cNvPr id="14" name="Text 12"/>
          <p:cNvSpPr txBox="1"/>
          <p:nvPr/>
        </p:nvSpPr>
        <p:spPr>
          <a:xfrm>
            <a:off x="7388352" y="2834640"/>
            <a:ext cx="2011680" cy="1463040"/>
          </a:xfrm>
          <a:prstGeom prst="rect">
            <a:avLst/>
          </a:prstGeom>
          <a:noFill/>
          <a:ln/>
        </p:spPr>
        <p:txBody>
          <a:bodyPr wrap="square" lIns="0" tIns="0" rIns="0" bIns="0" rtlCol="0" anchor="t"/>
          <a:lstStyle/>
          <a:p>
            <a:pPr indent="0" marL="0">
              <a:buNone/>
            </a:pPr>
            <a:r>
              <a:rPr lang="en-US" sz="1700" b="1" dirty="0">
                <a:solidFill>
                  <a:schemeClr val="bg1"/>
                </a:solidFill>
              </a:rPr>
              <a:t>Invite 100 founding members</a:t>
            </a:r>
            <a:endParaRPr lang="en-US" sz="1700" dirty="0"/>
          </a:p>
          <a:p>
            <a:pPr indent="0" marL="0">
              <a:buNone/>
            </a:pPr>
            <a:r>
              <a:rPr lang="en-US" sz="1400" dirty="0">
                <a:solidFill>
                  <a:schemeClr val="accent6"/>
                </a:solidFill>
              </a:rPr>
              <a:t>from buyers and creators' audiences</a:t>
            </a:r>
            <a:endParaRPr lang="en-US" sz="1700" dirty="0"/>
          </a:p>
        </p:txBody>
      </p:sp>
      <p:sp>
        <p:nvSpPr>
          <p:cNvPr id="15" name="Step dot 5"/>
          <p:cNvSpPr/>
          <p:nvPr/>
        </p:nvSpPr>
        <p:spPr>
          <a:xfrm>
            <a:off x="9637776" y="1691640"/>
            <a:ext cx="914400" cy="914400"/>
          </a:xfrm>
          <a:prstGeom prst="ellipse">
            <a:avLst/>
          </a:prstGeom>
          <a:solidFill>
            <a:schemeClr val="accent1"/>
          </a:solidFill>
          <a:ln/>
        </p:spPr>
      </p:sp>
      <p:sp>
        <p:nvSpPr>
          <p:cNvPr id="16" name="Text 14"/>
          <p:cNvSpPr txBox="1"/>
          <p:nvPr/>
        </p:nvSpPr>
        <p:spPr>
          <a:xfrm>
            <a:off x="9637776" y="1691640"/>
            <a:ext cx="914400" cy="914400"/>
          </a:xfrm>
          <a:prstGeom prst="rect">
            <a:avLst/>
          </a:prstGeom>
          <a:noFill/>
          <a:ln/>
        </p:spPr>
        <p:txBody>
          <a:bodyPr wrap="square" lIns="0" tIns="0" rIns="0" bIns="0" rtlCol="0" anchor="ctr"/>
          <a:lstStyle/>
          <a:p>
            <a:pPr algn="ctr" indent="0" marL="0">
              <a:buNone/>
            </a:pPr>
            <a:r>
              <a:rPr lang="en-US" sz="3000" dirty="0">
                <a:solidFill>
                  <a:schemeClr val="bg1"/>
                </a:solidFill>
                <a:latin typeface="Georgia" pitchFamily="34" charset="0"/>
                <a:ea typeface="Georgia" pitchFamily="34" charset="-122"/>
                <a:cs typeface="Georgia" pitchFamily="34" charset="-120"/>
              </a:rPr>
              <a:t>5</a:t>
            </a:r>
            <a:endParaRPr lang="en-US" sz="3000" dirty="0"/>
          </a:p>
        </p:txBody>
      </p:sp>
      <p:sp>
        <p:nvSpPr>
          <p:cNvPr id="17" name="Text 15"/>
          <p:cNvSpPr txBox="1"/>
          <p:nvPr/>
        </p:nvSpPr>
        <p:spPr>
          <a:xfrm>
            <a:off x="9637776" y="2834640"/>
            <a:ext cx="2011680" cy="1463040"/>
          </a:xfrm>
          <a:prstGeom prst="rect">
            <a:avLst/>
          </a:prstGeom>
          <a:noFill/>
          <a:ln/>
        </p:spPr>
        <p:txBody>
          <a:bodyPr wrap="square" lIns="0" tIns="0" rIns="0" bIns="0" rtlCol="0" anchor="t"/>
          <a:lstStyle/>
          <a:p>
            <a:pPr indent="0" marL="0">
              <a:buNone/>
            </a:pPr>
            <a:r>
              <a:rPr lang="en-US" sz="1700" b="1" dirty="0">
                <a:solidFill>
                  <a:schemeClr val="bg1"/>
                </a:solidFill>
              </a:rPr>
              <a:t>First Lagos Glow Session</a:t>
            </a:r>
            <a:endParaRPr lang="en-US" sz="1700" dirty="0"/>
          </a:p>
          <a:p>
            <a:pPr indent="0" marL="0">
              <a:buNone/>
            </a:pPr>
            <a:r>
              <a:rPr lang="en-US" sz="1400" dirty="0">
                <a:solidFill>
                  <a:schemeClr val="accent6"/>
                </a:solidFill>
              </a:rPr>
              <a:t>in December, the festive season</a:t>
            </a:r>
            <a:endParaRPr lang="en-US" sz="1700" dirty="0"/>
          </a:p>
        </p:txBody>
      </p:sp>
      <p:sp>
        <p:nvSpPr>
          <p:cNvPr id="18" name="Decor circle"/>
          <p:cNvSpPr/>
          <p:nvPr/>
        </p:nvSpPr>
        <p:spPr>
          <a:xfrm>
            <a:off x="9692640" y="4480560"/>
            <a:ext cx="3291840" cy="3291840"/>
          </a:xfrm>
          <a:prstGeom prst="ellipse">
            <a:avLst/>
          </a:prstGeom>
          <a:solidFill>
            <a:schemeClr val="accent1">
              <a:alpha val="40000"/>
            </a:schemeClr>
          </a:solidFill>
          <a:ln/>
        </p:spPr>
      </p:sp>
      <p:sp>
        <p:nvSpPr>
          <p:cNvPr id="19" name="Closing line"/>
          <p:cNvSpPr txBox="1"/>
          <p:nvPr/>
        </p:nvSpPr>
        <p:spPr>
          <a:xfrm>
            <a:off x="640080" y="4937760"/>
            <a:ext cx="8229600" cy="640080"/>
          </a:xfrm>
          <a:prstGeom prst="rect">
            <a:avLst/>
          </a:prstGeom>
          <a:noFill/>
          <a:ln/>
        </p:spPr>
        <p:txBody>
          <a:bodyPr wrap="square" lIns="0" tIns="0" rIns="0" bIns="0" rtlCol="0" anchor="ctr"/>
          <a:lstStyle/>
          <a:p>
            <a:pPr indent="0" marL="0">
              <a:buNone/>
            </a:pPr>
            <a:r>
              <a:rPr lang="en-US" sz="2600" i="1" dirty="0">
                <a:solidFill>
                  <a:schemeClr val="accent3"/>
                </a:solidFill>
                <a:latin typeface="Georgia" pitchFamily="34" charset="0"/>
                <a:ea typeface="Georgia" pitchFamily="34" charset="-122"/>
                <a:cs typeface="Georgia" pitchFamily="34" charset="-120"/>
              </a:rPr>
              <a:t>Every sale tracked. Every phase earned.</a:t>
            </a:r>
            <a:endParaRPr lang="en-US" sz="2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60120"/>
          </a:xfrm>
          <a:prstGeom prst="rect">
            <a:avLst/>
          </a:prstGeom>
          <a:noFill/>
          <a:ln/>
        </p:spPr>
        <p:txBody>
          <a:bodyPr wrap="square" lIns="0" tIns="0" rIns="0" bIns="0" rtlCol="0" anchor="t"/>
          <a:lstStyle/>
          <a:p>
            <a:pPr algn="l" indent="0" marL="0">
              <a:buNone/>
            </a:pPr>
            <a:r>
              <a:rPr lang="en-US" sz="3200" dirty="0">
                <a:solidFill>
                  <a:schemeClr val="tx1"/>
                </a:solidFill>
              </a:rPr>
              <a:t>Sources</a:t>
            </a:r>
            <a:endParaRPr lang="en-US" sz="3200" dirty="0"/>
          </a:p>
        </p:txBody>
      </p:sp>
      <p:sp>
        <p:nvSpPr>
          <p:cNvPr id="3" name="Source list"/>
          <p:cNvSpPr txBox="1"/>
          <p:nvPr/>
        </p:nvSpPr>
        <p:spPr>
          <a:xfrm>
            <a:off x="548640" y="1508760"/>
            <a:ext cx="11064240" cy="4023360"/>
          </a:xfrm>
          <a:prstGeom prst="rect">
            <a:avLst/>
          </a:prstGeom>
          <a:noFill/>
          <a:ln/>
        </p:spPr>
        <p:txBody>
          <a:bodyPr wrap="square" lIns="0" tIns="0" rIns="0" bIns="0" rtlCol="0" anchor="t"/>
          <a:lstStyle/>
          <a:p>
            <a:pPr indent="0" marL="0">
              <a:spcAft>
                <a:spcPts val="1000"/>
              </a:spcAft>
              <a:buNone/>
            </a:pPr>
            <a:r>
              <a:rPr lang="en-US" sz="1300" b="1" dirty="0">
                <a:solidFill>
                  <a:schemeClr val="tx2"/>
                </a:solidFill>
              </a:rPr>
              <a:t>Cosmo: </a:t>
            </a:r>
            <a:pPr indent="0" marL="0">
              <a:spcAft>
                <a:spcPts val="1000"/>
              </a:spcAft>
              <a:buNone/>
            </a:pPr>
            <a:r>
              <a:rPr lang="en-US" sz="1300" dirty="0">
                <a:solidFill>
                  <a:schemeClr val="tx1"/>
                </a:solidFill>
              </a:rPr>
              <a:t>Gulf News (Oct 2026); Cosmo Cosmetics UAE, About; Observer Dubai (BeautyWorld 2026); ThisDay (Nov 2024); BrandSpur; Vanguard</a:t>
            </a:r>
            <a:endParaRPr lang="en-US" sz="1300" dirty="0"/>
          </a:p>
          <a:p>
            <a:pPr indent="0" marL="0">
              <a:spcAft>
                <a:spcPts val="1000"/>
              </a:spcAft>
              <a:buNone/>
            </a:pPr>
            <a:r>
              <a:rPr lang="en-US" sz="1300" b="1" dirty="0">
                <a:solidFill>
                  <a:schemeClr val="tx2"/>
                </a:solidFill>
              </a:rPr>
              <a:t>Market: </a:t>
            </a:r>
            <a:pPr indent="0" marL="0">
              <a:spcAft>
                <a:spcPts val="1000"/>
              </a:spcAft>
              <a:buNone/>
            </a:pPr>
            <a:r>
              <a:rPr lang="en-US" sz="1300" dirty="0">
                <a:solidFill>
                  <a:schemeClr val="tx1"/>
                </a:solidFill>
              </a:rPr>
              <a:t>Euromonitor, Beauty and Personal Care in Nigeria; Markntel Advisors; BusinessDay (Euromonitor 2022 data); Beauty West Africa; NBS via Nairametrics (Sept 2026 inflation, Oct 2026 naira)</a:t>
            </a:r>
            <a:endParaRPr lang="en-US" sz="1300" dirty="0"/>
          </a:p>
          <a:p>
            <a:pPr indent="0" marL="0">
              <a:spcAft>
                <a:spcPts val="1000"/>
              </a:spcAft>
              <a:buNone/>
            </a:pPr>
            <a:r>
              <a:rPr lang="en-US" sz="1300" b="1" dirty="0">
                <a:solidFill>
                  <a:schemeClr val="tx2"/>
                </a:solidFill>
              </a:rPr>
              <a:t>Players: </a:t>
            </a:r>
            <a:pPr indent="0" marL="0">
              <a:spcAft>
                <a:spcPts val="1000"/>
              </a:spcAft>
              <a:buNone/>
            </a:pPr>
            <a:r>
              <a:rPr lang="en-US" sz="1300" dirty="0">
                <a:solidFill>
                  <a:schemeClr val="tx1"/>
                </a:solidFill>
              </a:rPr>
              <a:t>BusinessDay (NIVEA promotion, Unilever exit); Nairametrics (PZ Cussons FY2026, NAFDAC seizure); ThisDay (P&amp;G, GSK); Oyster Skin; Prime Business Africa</a:t>
            </a:r>
            <a:endParaRPr lang="en-US" sz="1300" dirty="0"/>
          </a:p>
          <a:p>
            <a:pPr indent="0" marL="0">
              <a:spcAft>
                <a:spcPts val="1000"/>
              </a:spcAft>
              <a:buNone/>
            </a:pPr>
            <a:r>
              <a:rPr lang="en-US" sz="1300" b="1" dirty="0">
                <a:solidFill>
                  <a:schemeClr val="tx2"/>
                </a:solidFill>
              </a:rPr>
              <a:t>Consumers: </a:t>
            </a:r>
            <a:pPr indent="0" marL="0">
              <a:spcAft>
                <a:spcPts val="1000"/>
              </a:spcAft>
              <a:buNone/>
            </a:pPr>
            <a:r>
              <a:rPr lang="en-US" sz="1300" dirty="0">
                <a:solidFill>
                  <a:schemeClr val="tx1"/>
                </a:solidFill>
              </a:rPr>
              <a:t>Splice survey via TechCabal and BellaNaija; NielsenIQ via Nairametrics; Redeemer's University study (2025); Krestel, citing DataReportal; Lilach Bullock (TikTok Shop)</a:t>
            </a:r>
            <a:endParaRPr lang="en-US" sz="1300" dirty="0"/>
          </a:p>
          <a:p>
            <a:pPr indent="0" marL="0">
              <a:spcAft>
                <a:spcPts val="1000"/>
              </a:spcAft>
              <a:buNone/>
            </a:pPr>
            <a:r>
              <a:rPr lang="en-US" sz="1300" b="1" dirty="0">
                <a:solidFill>
                  <a:schemeClr val="tx2"/>
                </a:solidFill>
              </a:rPr>
              <a:t>Sentiment and rules: </a:t>
            </a:r>
            <a:pPr indent="0" marL="0">
              <a:spcAft>
                <a:spcPts val="1000"/>
              </a:spcAft>
              <a:buNone/>
            </a:pPr>
            <a:r>
              <a:rPr lang="en-US" sz="1300" dirty="0">
                <a:solidFill>
                  <a:schemeClr val="tx1"/>
                </a:solidFill>
              </a:rPr>
              <a:t>ARISE; BusinessDay (Vaseline, skincare risks, ARCON); Gazette; Scientific Reports (2023); Zikoko; Mondaq and NAN (NAFDAC); Tribune; KPMG; IT Edge News</a:t>
            </a:r>
            <a:endParaRPr lang="en-US" sz="1300" dirty="0"/>
          </a:p>
          <a:p>
            <a:pPr indent="0" marL="0">
              <a:spcAft>
                <a:spcPts val="1000"/>
              </a:spcAft>
              <a:buNone/>
            </a:pPr>
            <a:r>
              <a:rPr lang="en-US" sz="1300" b="1" dirty="0">
                <a:solidFill>
                  <a:schemeClr val="tx2"/>
                </a:solidFill>
              </a:rPr>
              <a:t>Influencers: </a:t>
            </a:r>
            <a:pPr indent="0" marL="0">
              <a:spcAft>
                <a:spcPts val="1000"/>
              </a:spcAft>
              <a:buNone/>
            </a:pPr>
            <a:r>
              <a:rPr lang="en-US" sz="1300" dirty="0">
                <a:solidFill>
                  <a:schemeClr val="tx1"/>
                </a:solidFill>
              </a:rPr>
              <a:t>Nitro; Snippet; Hypefy; Modash</a:t>
            </a:r>
            <a:endParaRPr lang="en-US" sz="1300" dirty="0"/>
          </a:p>
        </p:txBody>
      </p:sp>
      <p:sp>
        <p:nvSpPr>
          <p:cNvPr id="4" name="Text 2"/>
          <p:cNvSpPr txBox="1"/>
          <p:nvPr/>
        </p:nvSpPr>
        <p:spPr>
          <a:xfrm>
            <a:off x="548640" y="5669280"/>
            <a:ext cx="11064240" cy="365760"/>
          </a:xfrm>
          <a:prstGeom prst="rect">
            <a:avLst/>
          </a:prstGeom>
          <a:noFill/>
          <a:ln/>
        </p:spPr>
        <p:txBody>
          <a:bodyPr wrap="square" lIns="0" tIns="0" rIns="0" bIns="0" rtlCol="0" anchor="ctr"/>
          <a:lstStyle/>
          <a:p>
            <a:pPr indent="0" marL="0">
              <a:buNone/>
            </a:pPr>
            <a:r>
              <a:rPr lang="en-US" sz="1200" i="1" dirty="0">
                <a:solidFill>
                  <a:schemeClr val="tx2"/>
                </a:solidFill>
              </a:rPr>
              <a:t>All figures checked against their source pages on 28 October 2026. Full links are in the strategy doc.</a:t>
            </a:r>
            <a:endParaRPr lang="en-US" sz="12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Cosmo Circle">
  <a:themeElements>
    <a:clrScheme name="Cosmo Circle">
      <a:dk1>
        <a:srgbClr val="1A1423"/>
      </a:dk1>
      <a:lt1>
        <a:srgbClr val="FFFFFF"/>
      </a:lt1>
      <a:dk2>
        <a:srgbClr val="4E176B"/>
      </a:dk2>
      <a:lt2>
        <a:srgbClr val="F7F3FC"/>
      </a:lt2>
      <a:accent1>
        <a:srgbClr val="7B2CF0"/>
      </a:accent1>
      <a:accent2>
        <a:srgbClr val="5E1DB8"/>
      </a:accent2>
      <a:accent3>
        <a:srgbClr val="F8C9A0"/>
      </a:accent3>
      <a:accent4>
        <a:srgbClr val="FCE8F4"/>
      </a:accent4>
      <a:accent5>
        <a:srgbClr val="F2B630"/>
      </a:accent5>
      <a:accent6>
        <a:srgbClr val="E9DDFB"/>
      </a:accent6>
      <a:hlink>
        <a:srgbClr val="7B2CF0"/>
      </a:hlink>
      <a:folHlink>
        <a:srgbClr val="5E1DB8"/>
      </a:folHlink>
    </a:clrScheme>
    <a:fontScheme name="Cosmo Circl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Prepared for GVS Cosmetics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Cosmo Circle: growth strategy for Cosmo in Nigeria</dc:title>
  <dc:subject>Community-led growth strategy</dc:subject>
  <dc:creator>PptxGenJS</dc:creator>
  <cp:lastModifiedBy>PptxGenJS</cp:lastModifiedBy>
  <cp:revision>1</cp:revision>
  <dcterms:created xsi:type="dcterms:W3CDTF">2026-10-28T22:26:29Z</dcterms:created>
  <dcterms:modified xsi:type="dcterms:W3CDTF">2026-10-28T22:26:29Z</dcterms:modified>
</cp:coreProperties>
</file>